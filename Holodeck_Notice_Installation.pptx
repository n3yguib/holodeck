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zHs2V2ZF9VMFeLOOrHjBcAmo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63DDEE-3B14-4A77-8F08-7F5731DF1F38}">
  <a:tblStyle styleId="{4663DDEE-3B14-4A77-8F08-7F5731DF1F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aa4b4acb7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aa4b4acb7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aa4b4acb7_0_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aa4b4acb7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aa4b4acb7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aa4b4acb7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a4b4acb7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faa4b4acb7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aa4b4acb7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aa4b4acb7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faa4b4acb7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aa4b4acb7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aa4b4acb7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faa4b4acb7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aa4b4acb7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aa4b4acb7_0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faa4b4acb7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aa4b4acb7_0_2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aa4b4acb7_0_643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faa4b4acb7_0_64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aa4b4acb7_0_64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aa4b4acb7_0_364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faa4b4acb7_0_364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faa4b4acb7_0_364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aa4b4acb7_0_381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faa4b4acb7_0_381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aa4b4acb7_0_381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aa4b4acb7_0_405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faa4b4acb7_0_405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aa4b4acb7_0_405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aa4b4acb7_0_433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faa4b4acb7_0_43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aa4b4acb7_0_43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aa4b4acb7_0_45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faa4b4acb7_0_45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faa4b4acb7_0_45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aa4b4acb7_0_479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faa4b4acb7_0_479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aa4b4acb7_0_479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aa4b4acb7_0_511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faa4b4acb7_0_511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faa4b4acb7_0_511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aa4b4acb7_0_533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faa4b4acb7_0_53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faa4b4acb7_0_53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faa4b4acb7_0_544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faa4b4acb7_0_544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faa4b4acb7_0_544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aa4b4acb7_0_575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faa4b4acb7_0_575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faa4b4acb7_0_575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aa4b4acb7_0_585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g3faa4b4acb7_0_585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faa4b4acb7_0_585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aa4b4acb7_0_609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faa4b4acb7_0_609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faa4b4acb7_0_609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aa4b4ac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g3faa4b4ac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faa4b4ac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8.png"/><Relationship Id="rId13" Type="http://schemas.openxmlformats.org/officeDocument/2006/relationships/image" Target="../media/image1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1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097280"/>
            <a:ext cx="5486400" cy="5486400"/>
          </a:xfrm>
          <a:prstGeom prst="ellipse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692640" y="-182880"/>
            <a:ext cx="3657600" cy="3657600"/>
          </a:xfrm>
          <a:prstGeom prst="ellipse">
            <a:avLst/>
          </a:prstGeom>
          <a:solidFill>
            <a:srgbClr val="1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1520" y="2011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PROJET HOLODECK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2468880"/>
            <a:ext cx="9144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Notice d'installation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 d'utilisation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1148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Machines Virtuelles Web pour les Ingénieurs de Starfleet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777240" y="466344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Guide utilisateur final — La Plateforme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1. AVANT DE COMMENCER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Prérequis matériels et logiciels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548640" y="1691640"/>
            <a:ext cx="5394900" cy="448050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420000" dist="190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Ce qu'il vous faut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22960" y="2422043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918395" y="2329272"/>
            <a:ext cx="4663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Un ordinateur avec au moins 6 Go de RAM disponible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" y="2988971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918395" y="2896200"/>
            <a:ext cx="4663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60 Go d'espace disque libre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22960" y="3555899"/>
            <a:ext cx="109800" cy="109800"/>
          </a:xfrm>
          <a:prstGeom prst="roundRect">
            <a:avLst>
              <a:gd fmla="val 16667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18395" y="3455271"/>
            <a:ext cx="4663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VMware Workstation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12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Installer VMware Workstation Player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92240" y="233172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492240" y="23317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27372" y="2343439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Rendez-vous sur le site officiel VMware Workstation Player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92240" y="301752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92240" y="30175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827372" y="3007044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Téléchargez la version correspondant à votre OS (Windows ou Linux)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92240" y="370332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92240" y="3703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27372" y="3703941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Lancez l'installateur et suivez les instructions par défaut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92240" y="438912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92240" y="43891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827372" y="4411936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Redémarrez la machine si l'installateur le demande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2. MISE EN PLACE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Importer les machines virtuelles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420000" dist="190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Si vous avez les fichiers .ova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22960" y="233172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22960" y="23317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202480" y="2354536"/>
            <a:ext cx="4389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Ouvrez VMware Workstation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22960" y="2816352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22960" y="28163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02480" y="2839168"/>
            <a:ext cx="4389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Menu File → Open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22960" y="3300984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22960" y="33009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2480" y="3323800"/>
            <a:ext cx="4389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Sélectionnez holodeck-server.ova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22960" y="3785616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22960" y="37856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202480" y="3808432"/>
            <a:ext cx="4389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Choisissez un nom et un emplacement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22960" y="4270248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22960" y="42702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202480" y="4293064"/>
            <a:ext cx="4389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Cliquez sur Import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22960" y="475488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22960" y="47548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202480" y="4777696"/>
            <a:ext cx="4389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Répétez pour holodeck-client.ova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420000" dist="190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Si vous avez une copie brute du dossier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492240" y="233172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492240" y="23317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838469" y="2343439"/>
            <a:ext cx="438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Menu File → Open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492240" y="288036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492240" y="28803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38469" y="2892079"/>
            <a:ext cx="438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Naviguez jusqu'au fichier .vmx (ex : debian-server.vmx)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92240" y="342900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492240" y="34290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838469" y="3440719"/>
            <a:ext cx="438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Ouvrez-le </a:t>
            </a:r>
            <a:r>
              <a:rPr lang="en-US" sz="125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 VMware l'ajoute à la bibliothèque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Répétez l'opération pour les deux VM.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3. RÉSEAU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Configuration réseau avant le premier démarrage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4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5" name="Google Shape;105;p4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{4663DDEE-3B14-4A77-8F08-7F5731DF1F38}</a:tableStyleId>
              </a:tblPr>
              <a:tblGrid>
                <a:gridCol w="3200400"/>
                <a:gridCol w="3474725"/>
                <a:gridCol w="43891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Réseau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Rôle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F6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VMnet8 (NAT)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F6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F6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Carte WAN de la VM Serveur — accès Internet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F6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VMnet1 (Host-only)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F6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Host-only, DHCP désactivé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4F6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Carte LAN — réseau interne Starfleet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Assigner les cartes réseau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fmla="val 3200" name="adj"/>
            </a:avLst>
          </a:prstGeom>
          <a:solidFill>
            <a:srgbClr val="12294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822960" y="3931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 Server — 2 cartes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22960" y="438912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Carte 1 → NAT (VMnet8)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Carte 2 → Custom: VMnet1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217920" y="3749040"/>
            <a:ext cx="5394960" cy="2286000"/>
          </a:xfrm>
          <a:prstGeom prst="roundRect">
            <a:avLst>
              <a:gd fmla="val 3200" name="adj"/>
            </a:avLst>
          </a:prstGeom>
          <a:solidFill>
            <a:srgbClr val="12294D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492240" y="3931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 Cliente — 1 carte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492240" y="438912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Carte 1 → Custom: VMnet1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4. DÉMARRAGE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Premier démarrage des machines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5"/>
          <p:cNvSpPr/>
          <p:nvPr/>
        </p:nvSpPr>
        <p:spPr>
          <a:xfrm>
            <a:off x="548640" y="169164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28160" y="1681164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Démarrez la VM Server en premier (pas d'interface graphique)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233172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48640" y="23317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28160" y="2321244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Démarrez ensuite la VM Cliente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8640" y="2895600"/>
            <a:ext cx="5394900" cy="26517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420000" dist="190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22960" y="307848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Connexion à la VM Serveur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22960" y="3563107"/>
            <a:ext cx="4846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Utilisateur : </a:t>
            </a:r>
            <a:r>
              <a:rPr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Mot de passe : </a:t>
            </a:r>
            <a:r>
              <a:rPr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Debian13*</a:t>
            </a:r>
            <a:br>
              <a:rPr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22960" y="4632960"/>
            <a:ext cx="4846200" cy="777300"/>
          </a:xfrm>
          <a:prstGeom prst="roundRect">
            <a:avLst>
              <a:gd fmla="val 7059" name="adj"/>
            </a:avLst>
          </a:prstGeom>
          <a:solidFill>
            <a:srgbClr val="FBF0D9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005840" y="4687824"/>
            <a:ext cx="4480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150"/>
              <a:buFont typeface="Calibri"/>
              <a:buNone/>
            </a:pPr>
            <a:r>
              <a:rPr b="1" i="0" lang="en-US" sz="13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0" i="1" lang="en-US" sz="1300" u="none" cap="none" strike="noStrike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Pas de compte sudo : administration en root, de préférence par SSH par clé.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217920" y="2895600"/>
            <a:ext cx="5394900" cy="26517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420000" dist="190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492240" y="307848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Connexion à la VM Cliente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95960" y="4632935"/>
            <a:ext cx="4846200" cy="777300"/>
          </a:xfrm>
          <a:prstGeom prst="roundRect">
            <a:avLst>
              <a:gd fmla="val 7059" name="adj"/>
            </a:avLst>
          </a:prstGeom>
          <a:solidFill>
            <a:srgbClr val="FBF0D9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492250" y="4706622"/>
            <a:ext cx="484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Un environnement graphique (MATE) est disponible pour naviguer et tester les services depuis un navigateur web.</a:t>
            </a:r>
            <a:endParaRPr b="0" i="1" sz="1300" u="none" cap="none" strike="noStrike">
              <a:solidFill>
                <a:srgbClr val="5A441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495960" y="3568720"/>
            <a:ext cx="4846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Utilisateur : </a:t>
            </a:r>
            <a:r>
              <a:rPr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Mot de passe : </a:t>
            </a:r>
            <a:r>
              <a:rPr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Debian13</a:t>
            </a:r>
            <a:br>
              <a:rPr lang="en-US" sz="13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703397" y="5709860"/>
            <a:ext cx="4846200" cy="777300"/>
          </a:xfrm>
          <a:prstGeom prst="roundRect">
            <a:avLst>
              <a:gd fmla="val 7059" name="adj"/>
            </a:avLst>
          </a:prstGeom>
          <a:solidFill>
            <a:srgbClr val="FBF0D9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 </a:t>
            </a:r>
            <a:r>
              <a:rPr lang="en-US" sz="1350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1"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à savoir Debian13 est le mot de passe par défaut partout. </a:t>
            </a:r>
            <a:br>
              <a:rPr b="1"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Il </a:t>
            </a:r>
            <a:r>
              <a:rPr b="1"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nécessite</a:t>
            </a:r>
            <a:r>
              <a:rPr b="1"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 un changement de votre part </a:t>
            </a:r>
            <a:br>
              <a:rPr b="1"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pour un mot de passe plus robuste.</a:t>
            </a:r>
            <a:endParaRPr i="1" sz="1300">
              <a:solidFill>
                <a:srgbClr val="5A441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5.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Accès aux services de l'infrastructure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0" name="Google Shape;150;p6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{4663DDEE-3B14-4A77-8F08-7F5731DF1F38}</a:tableStyleId>
              </a:tblPr>
              <a:tblGrid>
                <a:gridCol w="3017525"/>
                <a:gridCol w="3931925"/>
                <a:gridCol w="41148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Adresse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Site web PHP 8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https://www8.starfleet.lan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Site web avec authentification LDAP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Site web PHP 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https://www7.starfleet.lan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Site web PHP 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phpMyAdmin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https://php.starfleet.lan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 des bases MariaDB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Cockpit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https://admin.starfleet.lan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 système via interface web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 Server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https://vscore.starfleet.lan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Éditeur de code en ligne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6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fmla="val 7059" name="adj"/>
            </a:avLst>
          </a:prstGeom>
          <a:solidFill>
            <a:srgbClr val="FBF0D9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68025" y="4764025"/>
            <a:ext cx="108813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0" i="1" lang="en-US" sz="1300" u="none" cap="none" strike="noStrike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Certificat SSL signé par une CA interne Starfleet. Importer starfleet-ca.crt dans le </a:t>
            </a:r>
            <a:r>
              <a:rPr i="1" lang="en-US" sz="130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magasin</a:t>
            </a:r>
            <a:r>
              <a:rPr b="0" i="1" lang="en-US" sz="1300" u="none" cap="none" strike="noStrike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 de confiance pour éviter l'avertissement navigateur (voir section 7).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5.1 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Connexion FTP et SSH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7"/>
          <p:cNvSpPr/>
          <p:nvPr/>
        </p:nvSpPr>
        <p:spPr>
          <a:xfrm>
            <a:off x="548640" y="1854200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Connexion FTP (FTPS)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2219960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Un client compatible FTPS est nécessaire (lftp, FileZilla...).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9" y="2631450"/>
            <a:ext cx="4937700" cy="1280100"/>
          </a:xfrm>
          <a:prstGeom prst="roundRect">
            <a:avLst>
              <a:gd fmla="val 4286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85800" y="249631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86968" y="249631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088136" y="249631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31525" y="2951475"/>
            <a:ext cx="4754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lftp -u ftpwww8,&lt;mot_de_passe_</a:t>
            </a:r>
            <a:r>
              <a:rPr lang="en-US" sz="1200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par_defaut</a:t>
            </a:r>
            <a:r>
              <a:rPr b="0" i="0" lang="en-US" sz="120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&gt; \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  ftp.starfleet.lan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48640" y="4048760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100"/>
              <a:buFont typeface="Calibri"/>
              <a:buNone/>
            </a:pPr>
            <a:r>
              <a:rPr b="0" i="1" lang="en-US" sz="12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Déplacez-vous dans html/ avant de déposer des fichiers.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583745" y="1854200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Connexion SSH (administration)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583745" y="2219960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Nécessite une clé publique déjà autorisée sur le Serveur.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583750" y="2677175"/>
            <a:ext cx="4056300" cy="914400"/>
          </a:xfrm>
          <a:prstGeom prst="roundRect">
            <a:avLst>
              <a:gd fmla="val 6000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720905" y="275031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922073" y="275031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123241" y="275031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744926" y="2997203"/>
            <a:ext cx="443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ssh root@192.168.100.2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583745" y="3683000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100"/>
              <a:buFont typeface="Calibri"/>
              <a:buNone/>
            </a:pPr>
            <a:r>
              <a:rPr b="0" i="1" lang="en-US" sz="12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Voir la section suivante pour ajouter votre clé.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6. ADMINISTRATION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8645" y="658375"/>
            <a:ext cx="5394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Ajouter sa propre clé SSH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>
            <a:off x="929640" y="179070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Générez une paire de clés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29640" y="2156460"/>
            <a:ext cx="5394900" cy="1051500"/>
          </a:xfrm>
          <a:prstGeom prst="roundRect">
            <a:avLst>
              <a:gd fmla="val 5217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066800" y="227533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1267968" y="227533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469136" y="227533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112520" y="2476500"/>
            <a:ext cx="5029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ssh-keygen -t ed25519 \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  -C "votre-identifiant"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29640" y="339090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Copiez la clé publique sur le Serveur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29640" y="3756660"/>
            <a:ext cx="5394900" cy="914400"/>
          </a:xfrm>
          <a:prstGeom prst="roundRect">
            <a:avLst>
              <a:gd fmla="val 6000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066800" y="387553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267968" y="387553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1469136" y="387553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112520" y="40767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ssh-copy-id root@192.168.100.2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60120" y="476250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Testez la connexion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60120" y="5128260"/>
            <a:ext cx="5394900" cy="914400"/>
          </a:xfrm>
          <a:prstGeom prst="roundRect">
            <a:avLst>
              <a:gd fmla="val 6000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097280" y="524713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298448" y="524713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499616" y="524713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143000" y="54483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ssh root@192.168.100.2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583745" y="5196790"/>
            <a:ext cx="5394900" cy="777300"/>
          </a:xfrm>
          <a:prstGeom prst="roundRect">
            <a:avLst>
              <a:gd fmla="val 7059" name="adj"/>
            </a:avLst>
          </a:prstGeom>
          <a:solidFill>
            <a:srgbClr val="16305A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6766625" y="5251654"/>
            <a:ext cx="5029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0" i="1" lang="en-US" sz="115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Une connexion réussie sans mot de passe confirme que la clé est bien enregistrée dans /root/.ssh/authorized_keys.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6537950"/>
            <a:ext cx="491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7. SÉCURITÉ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Importer le certificat SSL interne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9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9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 fichier starfleet-ca.crt est fourni avec le projet, ou récupérable sur la VM Serveur dans /etc/ssl/starfleet/.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" y="2286000"/>
            <a:ext cx="539496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420000" dist="190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Sur Debian/Linux (</a:t>
            </a:r>
            <a:r>
              <a:rPr b="1" lang="en-US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gestionnaire</a:t>
            </a:r>
            <a:r>
              <a:rPr b="1" i="0" lang="en-US" sz="1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 système)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22960" y="2926080"/>
            <a:ext cx="4846320" cy="1554480"/>
          </a:xfrm>
          <a:prstGeom prst="roundRect">
            <a:avLst>
              <a:gd fmla="val 3529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960120" y="30449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1161288" y="30449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1362456" y="30449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005840" y="324612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sudo cp starfleet-ca.crt \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  /usr/local/share/ca-certificates/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sudo update-ca-certificates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217920" y="2286000"/>
            <a:ext cx="539496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420000" dist="190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Sur Firefox (magasin du navigateur)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492240" y="2971800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492240" y="29718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849566" y="2983519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about:preferences#privacy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492240" y="3392424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492240" y="33924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849566" y="3404143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Certificats → Voir les certificats...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92240" y="3813048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492240" y="38130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849566" y="3824767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Onglet Autorités → Importer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492240" y="4233672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492240" y="42336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849566" y="4245391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Sélectionner starfleet-ca.crt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492240" y="4654296"/>
            <a:ext cx="329184" cy="329184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6492240" y="465429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849566" y="4666015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Cocher "Faire confiance à cette AC"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8. MAINTENANCE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Sauvegardes automatisées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0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0"/>
          <p:cNvSpPr/>
          <p:nvPr/>
        </p:nvSpPr>
        <p:spPr>
          <a:xfrm>
            <a:off x="548640" y="1691640"/>
            <a:ext cx="5394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Un script de sauvegarde (/root/backup_starfleet.sh) s'exécute quotidiennement à 2h du matin sur la VM Serveur (planifié via cron), et archive l'intégralité des configurations et données du projet dans /var/backups/starfleet/.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173527" y="1317355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Une exécution manuelle est possible à tout moment 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217925" y="1691647"/>
            <a:ext cx="5394900" cy="1848300"/>
          </a:xfrm>
          <a:prstGeom prst="roundRect">
            <a:avLst>
              <a:gd fmla="val 2069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355080" y="181051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556248" y="181051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757416" y="181051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400805" y="2025692"/>
            <a:ext cx="5029200" cy="15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/root/backup_starfleet.sh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[13/13] Sauvegarde du contenu web...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Archive créée 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starfleet_backup_2026-09-10.tar.gz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57195" y="3797140"/>
            <a:ext cx="5394900" cy="2651700"/>
          </a:xfrm>
          <a:prstGeom prst="roundRect">
            <a:avLst>
              <a:gd fmla="val 2069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594355" y="391601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795523" y="391601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996691" y="391601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640075" y="4117180"/>
            <a:ext cx="50292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250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crontab -e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0 2 * * * /root/backup_starfleet.sh &gt;&gt; /var/log/starfleet_backup_cron.log 2&gt;&amp;1</a:t>
            </a:r>
            <a:br>
              <a:rPr b="0" i="0" lang="en-US" sz="12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br>
              <a:rPr b="0" i="0" lang="en-US" sz="12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01730" y="3408928"/>
            <a:ext cx="539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Modifier l'heure de la sauvegarde automatique</a:t>
            </a:r>
            <a:r>
              <a:rPr b="0" i="1" lang="en-US" sz="125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 à tout moment 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217916" y="5907115"/>
            <a:ext cx="5029200" cy="410700"/>
          </a:xfrm>
          <a:prstGeom prst="roundRect">
            <a:avLst>
              <a:gd fmla="val 7059" name="adj"/>
            </a:avLst>
          </a:prstGeom>
          <a:solidFill>
            <a:srgbClr val="FBF0D9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412019" y="5781359"/>
            <a:ext cx="4867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i="1" lang="en-US" sz="115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Pour comprendre le fonctionnement de la syntaxe cron</a:t>
            </a:r>
            <a:r>
              <a:rPr b="0" i="1" lang="en-US" sz="1150" u="none" cap="none" strike="noStrike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 (voir section </a:t>
            </a:r>
            <a:r>
              <a:rPr i="1" lang="en-US" sz="1150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8.1</a:t>
            </a:r>
            <a:r>
              <a:rPr b="0" i="1" lang="en-US" sz="1150" u="none" cap="none" strike="noStrike">
                <a:solidFill>
                  <a:srgbClr val="5A4415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aa4b4acb7_0_292"/>
          <p:cNvSpPr/>
          <p:nvPr/>
        </p:nvSpPr>
        <p:spPr>
          <a:xfrm>
            <a:off x="548640" y="365760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8.1  </a:t>
            </a: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AUTOMATISATION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aa4b4acb7_0_292"/>
          <p:cNvSpPr/>
          <p:nvPr/>
        </p:nvSpPr>
        <p:spPr>
          <a:xfrm>
            <a:off x="548640" y="640080"/>
            <a:ext cx="1115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Comment fonctionne la syntaxe cron 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faa4b4acb7_0_292"/>
          <p:cNvCxnSpPr/>
          <p:nvPr/>
        </p:nvCxnSpPr>
        <p:spPr>
          <a:xfrm>
            <a:off x="566928" y="1280160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g3faa4b4acb7_0_292"/>
          <p:cNvSpPr/>
          <p:nvPr/>
        </p:nvSpPr>
        <p:spPr>
          <a:xfrm>
            <a:off x="2322150" y="1628170"/>
            <a:ext cx="7547700" cy="530100"/>
          </a:xfrm>
          <a:prstGeom prst="roundRect">
            <a:avLst>
              <a:gd fmla="val 7059" name="adj"/>
            </a:avLst>
          </a:prstGeom>
          <a:solidFill>
            <a:srgbClr val="081521"/>
          </a:solidFill>
          <a:ln cap="flat" cmpd="sng" w="865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350" lIns="62350" spcFirstLastPara="1" rIns="62350" wrap="square" tIns="6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aa4b4acb7_0_292"/>
          <p:cNvSpPr/>
          <p:nvPr/>
        </p:nvSpPr>
        <p:spPr>
          <a:xfrm>
            <a:off x="2509286" y="1628170"/>
            <a:ext cx="71733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64"/>
              <a:buFont typeface="Courier New"/>
              <a:buNone/>
            </a:pPr>
            <a:r>
              <a:rPr b="1" i="0" lang="en-US" sz="1364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364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364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364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364" u="none" cap="none" strike="noStrike">
                <a:solidFill>
                  <a:srgbClr val="8FD3FE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1364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364" u="none" cap="none" strike="noStrike">
                <a:solidFill>
                  <a:srgbClr val="F98CA4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1364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364" u="none" cap="none" strike="noStrike">
                <a:solidFill>
                  <a:srgbClr val="D8B4FE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1364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  /root/backup_starfleet.sh</a:t>
            </a:r>
            <a:endParaRPr b="0" i="0" sz="13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g3faa4b4acb7_0_292"/>
          <p:cNvCxnSpPr/>
          <p:nvPr/>
        </p:nvCxnSpPr>
        <p:spPr>
          <a:xfrm>
            <a:off x="2977125" y="2158383"/>
            <a:ext cx="0" cy="156000"/>
          </a:xfrm>
          <a:prstGeom prst="straightConnector1">
            <a:avLst/>
          </a:prstGeom>
          <a:noFill/>
          <a:ln cap="flat" cmpd="sng" w="13000">
            <a:solidFill>
              <a:srgbClr val="FFC85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2" name="Google Shape;282;g3faa4b4acb7_0_292"/>
          <p:cNvSpPr/>
          <p:nvPr/>
        </p:nvSpPr>
        <p:spPr>
          <a:xfrm>
            <a:off x="2322150" y="2314329"/>
            <a:ext cx="1434600" cy="717300"/>
          </a:xfrm>
          <a:prstGeom prst="roundRect">
            <a:avLst>
              <a:gd fmla="val 6957" name="adj"/>
            </a:avLst>
          </a:prstGeom>
          <a:solidFill>
            <a:srgbClr val="12294D"/>
          </a:solidFill>
          <a:ln cap="flat" cmpd="sng" w="130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350" lIns="62350" spcFirstLastPara="1" rIns="62350" wrap="square" tIns="6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aa4b4acb7_0_292"/>
          <p:cNvSpPr/>
          <p:nvPr/>
        </p:nvSpPr>
        <p:spPr>
          <a:xfrm>
            <a:off x="2322150" y="2395420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785"/>
              <a:buFont typeface="Calibri"/>
              <a:buNone/>
            </a:pPr>
            <a:r>
              <a:rPr b="1" i="0" lang="en-US" sz="785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MINUTE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aa4b4acb7_0_292"/>
          <p:cNvSpPr/>
          <p:nvPr/>
        </p:nvSpPr>
        <p:spPr>
          <a:xfrm>
            <a:off x="2322150" y="2626219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3"/>
              <a:buFont typeface="Courier New"/>
              <a:buNone/>
            </a:pPr>
            <a:r>
              <a:rPr b="0" i="0" lang="en-US" sz="853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 – 59</a:t>
            </a:r>
            <a:endParaRPr b="0" i="0" sz="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g3faa4b4acb7_0_292"/>
          <p:cNvCxnSpPr/>
          <p:nvPr/>
        </p:nvCxnSpPr>
        <p:spPr>
          <a:xfrm>
            <a:off x="4486685" y="2158383"/>
            <a:ext cx="0" cy="156000"/>
          </a:xfrm>
          <a:prstGeom prst="straightConnector1">
            <a:avLst/>
          </a:prstGeom>
          <a:noFill/>
          <a:ln cap="flat" cmpd="sng" w="13000">
            <a:solidFill>
              <a:srgbClr val="6EE7A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6" name="Google Shape;286;g3faa4b4acb7_0_292"/>
          <p:cNvSpPr/>
          <p:nvPr/>
        </p:nvSpPr>
        <p:spPr>
          <a:xfrm>
            <a:off x="3831710" y="2314329"/>
            <a:ext cx="1434600" cy="717300"/>
          </a:xfrm>
          <a:prstGeom prst="roundRect">
            <a:avLst>
              <a:gd fmla="val 6957" name="adj"/>
            </a:avLst>
          </a:prstGeom>
          <a:solidFill>
            <a:srgbClr val="12294D"/>
          </a:solidFill>
          <a:ln cap="flat" cmpd="sng" w="13000">
            <a:solidFill>
              <a:srgbClr val="6EE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350" lIns="62350" spcFirstLastPara="1" rIns="62350" wrap="square" tIns="6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aa4b4acb7_0_292"/>
          <p:cNvSpPr/>
          <p:nvPr/>
        </p:nvSpPr>
        <p:spPr>
          <a:xfrm>
            <a:off x="3831710" y="2395420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785"/>
              <a:buFont typeface="Calibri"/>
              <a:buNone/>
            </a:pPr>
            <a:r>
              <a:rPr b="1" i="0" lang="en-US" sz="785" u="none" cap="none" strike="noStrike">
                <a:solidFill>
                  <a:srgbClr val="6EE7A0"/>
                </a:solidFill>
                <a:latin typeface="Calibri"/>
                <a:ea typeface="Calibri"/>
                <a:cs typeface="Calibri"/>
                <a:sym typeface="Calibri"/>
              </a:rPr>
              <a:t>HEURE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aa4b4acb7_0_292"/>
          <p:cNvSpPr/>
          <p:nvPr/>
        </p:nvSpPr>
        <p:spPr>
          <a:xfrm>
            <a:off x="3831710" y="2626219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3"/>
              <a:buFont typeface="Courier New"/>
              <a:buNone/>
            </a:pPr>
            <a:r>
              <a:rPr b="0" i="0" lang="en-US" sz="853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 – 23</a:t>
            </a:r>
            <a:endParaRPr b="0" i="0" sz="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g3faa4b4acb7_0_292"/>
          <p:cNvCxnSpPr/>
          <p:nvPr/>
        </p:nvCxnSpPr>
        <p:spPr>
          <a:xfrm>
            <a:off x="5996245" y="2158383"/>
            <a:ext cx="0" cy="156000"/>
          </a:xfrm>
          <a:prstGeom prst="straightConnector1">
            <a:avLst/>
          </a:prstGeom>
          <a:noFill/>
          <a:ln cap="flat" cmpd="sng" w="13000">
            <a:solidFill>
              <a:srgbClr val="8FD3F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0" name="Google Shape;290;g3faa4b4acb7_0_292"/>
          <p:cNvSpPr/>
          <p:nvPr/>
        </p:nvSpPr>
        <p:spPr>
          <a:xfrm>
            <a:off x="5341271" y="2314329"/>
            <a:ext cx="1434600" cy="717300"/>
          </a:xfrm>
          <a:prstGeom prst="roundRect">
            <a:avLst>
              <a:gd fmla="val 6957" name="adj"/>
            </a:avLst>
          </a:prstGeom>
          <a:solidFill>
            <a:srgbClr val="12294D"/>
          </a:solidFill>
          <a:ln cap="flat" cmpd="sng" w="13000">
            <a:solidFill>
              <a:srgbClr val="8FD3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350" lIns="62350" spcFirstLastPara="1" rIns="62350" wrap="square" tIns="6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aa4b4acb7_0_292"/>
          <p:cNvSpPr/>
          <p:nvPr/>
        </p:nvSpPr>
        <p:spPr>
          <a:xfrm>
            <a:off x="5341271" y="2395420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785"/>
              <a:buFont typeface="Calibri"/>
              <a:buNone/>
            </a:pPr>
            <a:r>
              <a:rPr b="1" i="0" lang="en-US" sz="785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JOUR DU MOIS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aa4b4acb7_0_292"/>
          <p:cNvSpPr/>
          <p:nvPr/>
        </p:nvSpPr>
        <p:spPr>
          <a:xfrm>
            <a:off x="5341271" y="2626219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3"/>
              <a:buFont typeface="Courier New"/>
              <a:buNone/>
            </a:pPr>
            <a:r>
              <a:rPr b="0" i="0" lang="en-US" sz="853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 – 31</a:t>
            </a:r>
            <a:endParaRPr b="0" i="0" sz="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g3faa4b4acb7_0_292"/>
          <p:cNvCxnSpPr/>
          <p:nvPr/>
        </p:nvCxnSpPr>
        <p:spPr>
          <a:xfrm>
            <a:off x="7505806" y="2158383"/>
            <a:ext cx="0" cy="156000"/>
          </a:xfrm>
          <a:prstGeom prst="straightConnector1">
            <a:avLst/>
          </a:prstGeom>
          <a:noFill/>
          <a:ln cap="flat" cmpd="sng" w="13000">
            <a:solidFill>
              <a:srgbClr val="F98CA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4" name="Google Shape;294;g3faa4b4acb7_0_292"/>
          <p:cNvSpPr/>
          <p:nvPr/>
        </p:nvSpPr>
        <p:spPr>
          <a:xfrm>
            <a:off x="6850831" y="2314329"/>
            <a:ext cx="1434600" cy="717300"/>
          </a:xfrm>
          <a:prstGeom prst="roundRect">
            <a:avLst>
              <a:gd fmla="val 6957" name="adj"/>
            </a:avLst>
          </a:prstGeom>
          <a:solidFill>
            <a:srgbClr val="12294D"/>
          </a:solidFill>
          <a:ln cap="flat" cmpd="sng" w="13000">
            <a:solidFill>
              <a:srgbClr val="F98C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350" lIns="62350" spcFirstLastPara="1" rIns="62350" wrap="square" tIns="6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aa4b4acb7_0_292"/>
          <p:cNvSpPr/>
          <p:nvPr/>
        </p:nvSpPr>
        <p:spPr>
          <a:xfrm>
            <a:off x="6850831" y="2395420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8CA4"/>
              </a:buClr>
              <a:buSzPts val="785"/>
              <a:buFont typeface="Calibri"/>
              <a:buNone/>
            </a:pPr>
            <a:r>
              <a:rPr b="1" i="0" lang="en-US" sz="785" u="none" cap="none" strike="noStrike">
                <a:solidFill>
                  <a:srgbClr val="F98CA4"/>
                </a:solidFill>
                <a:latin typeface="Calibri"/>
                <a:ea typeface="Calibri"/>
                <a:cs typeface="Calibri"/>
                <a:sym typeface="Calibri"/>
              </a:rPr>
              <a:t>MOIS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aa4b4acb7_0_292"/>
          <p:cNvSpPr/>
          <p:nvPr/>
        </p:nvSpPr>
        <p:spPr>
          <a:xfrm>
            <a:off x="6850831" y="2626219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3"/>
              <a:buFont typeface="Courier New"/>
              <a:buNone/>
            </a:pPr>
            <a:r>
              <a:rPr b="0" i="0" lang="en-US" sz="853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 – 12</a:t>
            </a:r>
            <a:endParaRPr b="0" i="0" sz="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g3faa4b4acb7_0_292"/>
          <p:cNvCxnSpPr/>
          <p:nvPr/>
        </p:nvCxnSpPr>
        <p:spPr>
          <a:xfrm>
            <a:off x="9015366" y="2158383"/>
            <a:ext cx="0" cy="156000"/>
          </a:xfrm>
          <a:prstGeom prst="straightConnector1">
            <a:avLst/>
          </a:prstGeom>
          <a:noFill/>
          <a:ln cap="flat" cmpd="sng" w="13000">
            <a:solidFill>
              <a:srgbClr val="D8B4F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8" name="Google Shape;298;g3faa4b4acb7_0_292"/>
          <p:cNvSpPr/>
          <p:nvPr/>
        </p:nvSpPr>
        <p:spPr>
          <a:xfrm>
            <a:off x="8360391" y="2314329"/>
            <a:ext cx="1434600" cy="717300"/>
          </a:xfrm>
          <a:prstGeom prst="roundRect">
            <a:avLst>
              <a:gd fmla="val 6957" name="adj"/>
            </a:avLst>
          </a:prstGeom>
          <a:solidFill>
            <a:srgbClr val="12294D"/>
          </a:solidFill>
          <a:ln cap="flat" cmpd="sng" w="13000">
            <a:solidFill>
              <a:srgbClr val="D8B4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350" lIns="62350" spcFirstLastPara="1" rIns="62350" wrap="square" tIns="62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aa4b4acb7_0_292"/>
          <p:cNvSpPr/>
          <p:nvPr/>
        </p:nvSpPr>
        <p:spPr>
          <a:xfrm>
            <a:off x="8360391" y="2395420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785"/>
              <a:buFont typeface="Calibri"/>
              <a:buNone/>
            </a:pPr>
            <a:r>
              <a:rPr b="1" i="0" lang="en-US" sz="785" u="none" cap="none" strike="noStrike">
                <a:solidFill>
                  <a:srgbClr val="D8B4FE"/>
                </a:solidFill>
                <a:latin typeface="Calibri"/>
                <a:ea typeface="Calibri"/>
                <a:cs typeface="Calibri"/>
                <a:sym typeface="Calibri"/>
              </a:rPr>
              <a:t>JOUR SEMAINE</a:t>
            </a:r>
            <a:endParaRPr b="0" i="0" sz="7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aa4b4acb7_0_292"/>
          <p:cNvSpPr/>
          <p:nvPr/>
        </p:nvSpPr>
        <p:spPr>
          <a:xfrm>
            <a:off x="8360391" y="2626219"/>
            <a:ext cx="1434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75" lIns="62350" spcFirstLastPara="1" rIns="62350" wrap="square" tIns="31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3"/>
              <a:buFont typeface="Courier New"/>
              <a:buNone/>
            </a:pPr>
            <a:r>
              <a:rPr b="0" i="0" lang="en-US" sz="853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 – 6 (0=dim.)</a:t>
            </a:r>
            <a:endParaRPr b="0" i="0" sz="8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aa4b4acb7_0_292"/>
          <p:cNvSpPr/>
          <p:nvPr/>
        </p:nvSpPr>
        <p:spPr>
          <a:xfrm>
            <a:off x="1301825" y="3840261"/>
            <a:ext cx="548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EXEMPLES COURANTS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2" name="Google Shape;302;g3faa4b4acb7_0_292"/>
          <p:cNvGraphicFramePr/>
          <p:nvPr/>
        </p:nvGraphicFramePr>
        <p:xfrm>
          <a:off x="1301825" y="4096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{4663DDEE-3B14-4A77-8F08-7F5731DF1F38}</a:tableStyleId>
              </a:tblPr>
              <a:tblGrid>
                <a:gridCol w="2773475"/>
                <a:gridCol w="681487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Ligne cron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Signification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2 * * *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Tous les jours à 2h00 du matin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 3 * * *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Tous les jours à 3h30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*/6 * * *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Toutes les 6 heures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4 * * 1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Tous les lundis à 4h00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6,18 * * *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6FA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 u="none" cap="none" strike="noStrike">
                          <a:solidFill>
                            <a:srgbClr val="F4F6F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Deux fois par jour, à 6h00 et 18h00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94D"/>
                    </a:solidFill>
                  </a:tcPr>
                </a:tc>
              </a:tr>
            </a:tbl>
          </a:graphicData>
        </a:graphic>
      </p:graphicFrame>
      <p:sp>
        <p:nvSpPr>
          <p:cNvPr id="303" name="Google Shape;303;g3faa4b4acb7_0_292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aa4b4acb7_0_292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9.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Dépannage rapide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1"/>
          <p:cNvCxnSpPr/>
          <p:nvPr/>
        </p:nvCxnSpPr>
        <p:spPr>
          <a:xfrm>
            <a:off x="566928" y="1444752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13" name="Google Shape;313;p11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{4663DDEE-3B14-4A77-8F08-7F5731DF1F38}</a:tableStyleId>
              </a:tblPr>
              <a:tblGrid>
                <a:gridCol w="5029200"/>
                <a:gridCol w="6035050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Symptôme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Piste de vérification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VM Cliente ne reçoit pas d'IP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Vérifier que isc-dhcp-server tourne sur le Serveur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 noms *.starfleet.lan ne se résolvent pas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Vérifier bind9/named et /etc/resolv.conf du Client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"502 Bad Gateway" sur un site web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Vérifier le pool PHP-FPM et les permissions du socket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 d'accès Internet depuis le Client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Vérifier le NAT (masquerade) dans nftables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Connexion FTP refusée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Vérifier le mot de passe du compte FTP et pure-ftpd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" name="Google Shape;314;p11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aa4b4acb7_0_147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PROBLÈME 1/5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aa4b4acb7_0_147"/>
          <p:cNvSpPr/>
          <p:nvPr/>
        </p:nvSpPr>
        <p:spPr>
          <a:xfrm>
            <a:off x="548640" y="658368"/>
            <a:ext cx="1115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 VM Cliente ne reçoit pas d'IP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g3faa4b4acb7_0_147"/>
          <p:cNvCxnSpPr/>
          <p:nvPr/>
        </p:nvCxnSpPr>
        <p:spPr>
          <a:xfrm>
            <a:off x="566928" y="1371600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g3faa4b4acb7_0_147"/>
          <p:cNvSpPr/>
          <p:nvPr/>
        </p:nvSpPr>
        <p:spPr>
          <a:xfrm>
            <a:off x="548640" y="155448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Piste de diagnostic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aa4b4acb7_0_147"/>
          <p:cNvSpPr/>
          <p:nvPr/>
        </p:nvSpPr>
        <p:spPr>
          <a:xfrm>
            <a:off x="548640" y="1920240"/>
            <a:ext cx="5120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service DHCP ne tourne pas ou n'écoute pas sur la bonne interface.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À vérifier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service isc-dhcp-server est actif sur le Serveur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Il écoute bien sur la carte LAN (ens34), pas le WAN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La carte réseau du Client est bien sur le même VMnet Host-only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aa4b4acb7_0_147"/>
          <p:cNvSpPr/>
          <p:nvPr/>
        </p:nvSpPr>
        <p:spPr>
          <a:xfrm>
            <a:off x="5989320" y="1554480"/>
            <a:ext cx="56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Commandes de vérification / correction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aa4b4acb7_0_147"/>
          <p:cNvSpPr/>
          <p:nvPr/>
        </p:nvSpPr>
        <p:spPr>
          <a:xfrm>
            <a:off x="5989320" y="1920240"/>
            <a:ext cx="5623500" cy="3703200"/>
          </a:xfrm>
          <a:prstGeom prst="roundRect">
            <a:avLst>
              <a:gd fmla="val 1481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aa4b4acb7_0_147"/>
          <p:cNvSpPr/>
          <p:nvPr/>
        </p:nvSpPr>
        <p:spPr>
          <a:xfrm>
            <a:off x="6126480" y="203911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aa4b4acb7_0_147"/>
          <p:cNvSpPr/>
          <p:nvPr/>
        </p:nvSpPr>
        <p:spPr>
          <a:xfrm>
            <a:off x="6327648" y="203911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aa4b4acb7_0_147"/>
          <p:cNvSpPr/>
          <p:nvPr/>
        </p:nvSpPr>
        <p:spPr>
          <a:xfrm>
            <a:off x="6528816" y="203911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aa4b4acb7_0_147"/>
          <p:cNvSpPr/>
          <p:nvPr/>
        </p:nvSpPr>
        <p:spPr>
          <a:xfrm>
            <a:off x="6172200" y="2240280"/>
            <a:ext cx="52578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status isc-dhcp-server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cat /etc/default/isc-dhcp-server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INTERFACESv4="ens34"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restart isc-dhcp-server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Côté Client 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ip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dhclient -v ens33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aa4b4acb7_0_147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aa4b4acb7_0_147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aa4b4acb7_0_164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PROBLÈME 2/5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aa4b4acb7_0_164"/>
          <p:cNvSpPr/>
          <p:nvPr/>
        </p:nvSpPr>
        <p:spPr>
          <a:xfrm>
            <a:off x="548640" y="658368"/>
            <a:ext cx="1115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Les noms *.starfleet.lan ne se résolvent pas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g3faa4b4acb7_0_164"/>
          <p:cNvCxnSpPr/>
          <p:nvPr/>
        </p:nvCxnSpPr>
        <p:spPr>
          <a:xfrm>
            <a:off x="566928" y="1371600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g3faa4b4acb7_0_164"/>
          <p:cNvSpPr/>
          <p:nvPr/>
        </p:nvSpPr>
        <p:spPr>
          <a:xfrm>
            <a:off x="548640" y="155448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Piste de diagnostic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aa4b4acb7_0_164"/>
          <p:cNvSpPr/>
          <p:nvPr/>
        </p:nvSpPr>
        <p:spPr>
          <a:xfrm>
            <a:off x="548640" y="1920240"/>
            <a:ext cx="5120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serveur DNS (bind9) ne répond pas, ou le Client n'interroge pas le bon serveur DNS.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À vérifier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service named/bind9 est actif sur le Serveur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La zone starfleet.lan se charge sans erreur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/etc/resolv.conf du Client pointe vers 192.168.100.2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aa4b4acb7_0_164"/>
          <p:cNvSpPr/>
          <p:nvPr/>
        </p:nvSpPr>
        <p:spPr>
          <a:xfrm>
            <a:off x="5989320" y="1554480"/>
            <a:ext cx="56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Commandes de vérification / correction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aa4b4acb7_0_164"/>
          <p:cNvSpPr/>
          <p:nvPr/>
        </p:nvSpPr>
        <p:spPr>
          <a:xfrm>
            <a:off x="5989320" y="1920240"/>
            <a:ext cx="5623500" cy="3703200"/>
          </a:xfrm>
          <a:prstGeom prst="roundRect">
            <a:avLst>
              <a:gd fmla="val 1481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aa4b4acb7_0_164"/>
          <p:cNvSpPr/>
          <p:nvPr/>
        </p:nvSpPr>
        <p:spPr>
          <a:xfrm>
            <a:off x="6126480" y="203911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aa4b4acb7_0_164"/>
          <p:cNvSpPr/>
          <p:nvPr/>
        </p:nvSpPr>
        <p:spPr>
          <a:xfrm>
            <a:off x="6327648" y="203911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aa4b4acb7_0_164"/>
          <p:cNvSpPr/>
          <p:nvPr/>
        </p:nvSpPr>
        <p:spPr>
          <a:xfrm>
            <a:off x="6528816" y="203911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aa4b4acb7_0_164"/>
          <p:cNvSpPr/>
          <p:nvPr/>
        </p:nvSpPr>
        <p:spPr>
          <a:xfrm>
            <a:off x="6172200" y="2240280"/>
            <a:ext cx="52578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status named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named-checkzone starfleet.lan \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  /etc/bind/db.starfleet.lan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Côté Client 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cat /etc/resolv.conf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nameserver 192.168.100.2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nslookup www8.starfleet.lan 192.168.100.2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aa4b4acb7_0_164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aa4b4acb7_0_164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aa4b4acb7_0_181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PROBLÈME 3/5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aa4b4acb7_0_181"/>
          <p:cNvSpPr/>
          <p:nvPr/>
        </p:nvSpPr>
        <p:spPr>
          <a:xfrm>
            <a:off x="548640" y="658368"/>
            <a:ext cx="1115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“502 Bad Gateway” sur un site web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g3faa4b4acb7_0_181"/>
          <p:cNvCxnSpPr/>
          <p:nvPr/>
        </p:nvCxnSpPr>
        <p:spPr>
          <a:xfrm>
            <a:off x="566928" y="1371600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g3faa4b4acb7_0_181"/>
          <p:cNvSpPr/>
          <p:nvPr/>
        </p:nvSpPr>
        <p:spPr>
          <a:xfrm>
            <a:off x="548640" y="155448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Piste de diagnostic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aa4b4acb7_0_181"/>
          <p:cNvSpPr/>
          <p:nvPr/>
        </p:nvSpPr>
        <p:spPr>
          <a:xfrm>
            <a:off x="548640" y="1920240"/>
            <a:ext cx="5120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Nginx ne parvient pas à joindre le pool PHP-FPM correspondant au site.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À vérifier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pool PHP-FPM concerné (7.4 ou 8.3) est actif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socket existe dans /run/php/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Les permissions du socket correspondent à l'utilisateur Nginx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aa4b4acb7_0_181"/>
          <p:cNvSpPr/>
          <p:nvPr/>
        </p:nvSpPr>
        <p:spPr>
          <a:xfrm>
            <a:off x="5989320" y="1554480"/>
            <a:ext cx="56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Commandes de vérification / correction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aa4b4acb7_0_181"/>
          <p:cNvSpPr/>
          <p:nvPr/>
        </p:nvSpPr>
        <p:spPr>
          <a:xfrm>
            <a:off x="5989320" y="1920240"/>
            <a:ext cx="5623500" cy="3703200"/>
          </a:xfrm>
          <a:prstGeom prst="roundRect">
            <a:avLst>
              <a:gd fmla="val 1481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aa4b4acb7_0_181"/>
          <p:cNvSpPr/>
          <p:nvPr/>
        </p:nvSpPr>
        <p:spPr>
          <a:xfrm>
            <a:off x="6126480" y="203911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aa4b4acb7_0_181"/>
          <p:cNvSpPr/>
          <p:nvPr/>
        </p:nvSpPr>
        <p:spPr>
          <a:xfrm>
            <a:off x="6327648" y="203911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aa4b4acb7_0_181"/>
          <p:cNvSpPr/>
          <p:nvPr/>
        </p:nvSpPr>
        <p:spPr>
          <a:xfrm>
            <a:off x="6528816" y="203911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faa4b4acb7_0_181"/>
          <p:cNvSpPr/>
          <p:nvPr/>
        </p:nvSpPr>
        <p:spPr>
          <a:xfrm>
            <a:off x="6172200" y="2240280"/>
            <a:ext cx="52578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status php8.3-fpm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ls -l /run/php/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tail -20 /var/log/nginx/error.log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Aligner les permissions si besoin 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grep listen.owner \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  /etc/php/8.3/fpm/pool.d/www.conf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listen.owner = nginx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restart php8.3-fpm nginx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aa4b4acb7_0_181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aa4b4acb7_0_181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aa4b4acb7_0_198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PROBLÈME 4/5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faa4b4acb7_0_198"/>
          <p:cNvSpPr/>
          <p:nvPr/>
        </p:nvSpPr>
        <p:spPr>
          <a:xfrm>
            <a:off x="548640" y="658368"/>
            <a:ext cx="1115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Pas d'accès Internet depuis le Client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g3faa4b4acb7_0_198"/>
          <p:cNvCxnSpPr/>
          <p:nvPr/>
        </p:nvCxnSpPr>
        <p:spPr>
          <a:xfrm>
            <a:off x="566928" y="1371600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g3faa4b4acb7_0_198"/>
          <p:cNvSpPr/>
          <p:nvPr/>
        </p:nvSpPr>
        <p:spPr>
          <a:xfrm>
            <a:off x="548640" y="155448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Piste de diagnostic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aa4b4acb7_0_198"/>
          <p:cNvSpPr/>
          <p:nvPr/>
        </p:nvSpPr>
        <p:spPr>
          <a:xfrm>
            <a:off x="548640" y="1920240"/>
            <a:ext cx="5120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routage ou le NAT entre le LAN et le WAN n'est pas actif sur le Serveur.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À vérifier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forwarding IP est activé au niveau noyau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La règle masquerade existe dans nftables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La carte WAN (ens33) a bien une IP/route valide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aa4b4acb7_0_198"/>
          <p:cNvSpPr/>
          <p:nvPr/>
        </p:nvSpPr>
        <p:spPr>
          <a:xfrm>
            <a:off x="5989320" y="1554480"/>
            <a:ext cx="56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Commandes de vérification / correction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aa4b4acb7_0_198"/>
          <p:cNvSpPr/>
          <p:nvPr/>
        </p:nvSpPr>
        <p:spPr>
          <a:xfrm>
            <a:off x="5989320" y="1920240"/>
            <a:ext cx="5623500" cy="3703200"/>
          </a:xfrm>
          <a:prstGeom prst="roundRect">
            <a:avLst>
              <a:gd fmla="val 1481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aa4b4acb7_0_198"/>
          <p:cNvSpPr/>
          <p:nvPr/>
        </p:nvSpPr>
        <p:spPr>
          <a:xfrm>
            <a:off x="6126480" y="203911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aa4b4acb7_0_198"/>
          <p:cNvSpPr/>
          <p:nvPr/>
        </p:nvSpPr>
        <p:spPr>
          <a:xfrm>
            <a:off x="6327648" y="203911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aa4b4acb7_0_198"/>
          <p:cNvSpPr/>
          <p:nvPr/>
        </p:nvSpPr>
        <p:spPr>
          <a:xfrm>
            <a:off x="6528816" y="203911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aa4b4acb7_0_198"/>
          <p:cNvSpPr/>
          <p:nvPr/>
        </p:nvSpPr>
        <p:spPr>
          <a:xfrm>
            <a:off x="6172200" y="2240280"/>
            <a:ext cx="52578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sysctl net.ipv4.ip_forward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net.ipv4.ip_forward =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nft list table ip nat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table ip nat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chain postrouting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  oifname "ens33" masquerade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Si absent 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nft -f /etc/nftables.conf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aa4b4acb7_0_198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aa4b4acb7_0_198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aa4b4acb7_0_215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PROBLÈME 5/5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aa4b4acb7_0_215"/>
          <p:cNvSpPr/>
          <p:nvPr/>
        </p:nvSpPr>
        <p:spPr>
          <a:xfrm>
            <a:off x="548640" y="658368"/>
            <a:ext cx="11155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Connexion FTP refusée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g3faa4b4acb7_0_215"/>
          <p:cNvCxnSpPr/>
          <p:nvPr/>
        </p:nvCxnSpPr>
        <p:spPr>
          <a:xfrm>
            <a:off x="566928" y="1371600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g3faa4b4acb7_0_215"/>
          <p:cNvSpPr/>
          <p:nvPr/>
        </p:nvSpPr>
        <p:spPr>
          <a:xfrm>
            <a:off x="548640" y="155448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Piste de diagnostic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aa4b4acb7_0_215"/>
          <p:cNvSpPr/>
          <p:nvPr/>
        </p:nvSpPr>
        <p:spPr>
          <a:xfrm>
            <a:off x="548640" y="1920240"/>
            <a:ext cx="5120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service pure-ftpd est arrêté, ou les identifiants du compte FTP sont incorrects.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À vérifier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service pure-ftpd est actif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mot de passe du compte système FTP est bien défini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F6F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Le client utilise bien le mode FTPS (TLS explicite)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aa4b4acb7_0_215"/>
          <p:cNvSpPr/>
          <p:nvPr/>
        </p:nvSpPr>
        <p:spPr>
          <a:xfrm>
            <a:off x="5989320" y="1554480"/>
            <a:ext cx="562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Commandes de vérification / correction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aa4b4acb7_0_215"/>
          <p:cNvSpPr/>
          <p:nvPr/>
        </p:nvSpPr>
        <p:spPr>
          <a:xfrm>
            <a:off x="5989320" y="1920240"/>
            <a:ext cx="5623500" cy="3703200"/>
          </a:xfrm>
          <a:prstGeom prst="roundRect">
            <a:avLst>
              <a:gd fmla="val 1481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faa4b4acb7_0_215"/>
          <p:cNvSpPr/>
          <p:nvPr/>
        </p:nvSpPr>
        <p:spPr>
          <a:xfrm>
            <a:off x="6126480" y="2039112"/>
            <a:ext cx="100500" cy="100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aa4b4acb7_0_215"/>
          <p:cNvSpPr/>
          <p:nvPr/>
        </p:nvSpPr>
        <p:spPr>
          <a:xfrm>
            <a:off x="6327648" y="2039112"/>
            <a:ext cx="100500" cy="1005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aa4b4acb7_0_215"/>
          <p:cNvSpPr/>
          <p:nvPr/>
        </p:nvSpPr>
        <p:spPr>
          <a:xfrm>
            <a:off x="6528816" y="2039112"/>
            <a:ext cx="100500" cy="1005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aa4b4acb7_0_215"/>
          <p:cNvSpPr/>
          <p:nvPr/>
        </p:nvSpPr>
        <p:spPr>
          <a:xfrm>
            <a:off x="6172200" y="2240280"/>
            <a:ext cx="52578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status pure-ftpd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grep ftpwww8 /etc/shadow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doit afficher un hash, pas '!' ni '*'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passwd ftpwww8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Côté Client 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lftp -u ftpwww8, ftp.starfleet.lan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4F2"/>
                </a:solidFill>
                <a:latin typeface="Courier New"/>
                <a:ea typeface="Courier New"/>
                <a:cs typeface="Courier New"/>
                <a:sym typeface="Courier New"/>
              </a:rPr>
              <a:t>&gt; set ssl:verify-certificate 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aa4b4acb7_0_215"/>
          <p:cNvSpPr/>
          <p:nvPr/>
        </p:nvSpPr>
        <p:spPr>
          <a:xfrm>
            <a:off x="5989320" y="5715000"/>
            <a:ext cx="5623500" cy="777300"/>
          </a:xfrm>
          <a:prstGeom prst="roundRect">
            <a:avLst>
              <a:gd fmla="val 7059" name="adj"/>
            </a:avLst>
          </a:prstGeom>
          <a:solidFill>
            <a:srgbClr val="16305A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aa4b4acb7_0_215"/>
          <p:cNvSpPr/>
          <p:nvPr/>
        </p:nvSpPr>
        <p:spPr>
          <a:xfrm>
            <a:off x="6172200" y="5769864"/>
            <a:ext cx="5257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0" i="1" lang="en-US" sz="115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En cas d'erreur TLS persistante, vérifier la version TLS supportée par pure-ftpd (voir section technique du projet).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aa4b4acb7_0_215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aa4b4acb7_0_215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a4b4acb7_0_643"/>
          <p:cNvSpPr/>
          <p:nvPr/>
        </p:nvSpPr>
        <p:spPr>
          <a:xfrm>
            <a:off x="8778474" y="-1097280"/>
            <a:ext cx="5486400" cy="5486400"/>
          </a:xfrm>
          <a:prstGeom prst="ellipse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aa4b4acb7_0_643"/>
          <p:cNvSpPr/>
          <p:nvPr/>
        </p:nvSpPr>
        <p:spPr>
          <a:xfrm>
            <a:off x="9692898" y="-182880"/>
            <a:ext cx="3657600" cy="3657600"/>
          </a:xfrm>
          <a:prstGeom prst="ellipse">
            <a:avLst/>
          </a:prstGeom>
          <a:solidFill>
            <a:srgbClr val="1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aa4b4acb7_0_643"/>
          <p:cNvSpPr txBox="1"/>
          <p:nvPr/>
        </p:nvSpPr>
        <p:spPr>
          <a:xfrm>
            <a:off x="731540" y="2011680"/>
            <a:ext cx="822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aa4b4acb7_0_643"/>
          <p:cNvSpPr txBox="1"/>
          <p:nvPr/>
        </p:nvSpPr>
        <p:spPr>
          <a:xfrm>
            <a:off x="731540" y="2468880"/>
            <a:ext cx="91443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3407A"/>
                </a:solidFill>
                <a:latin typeface="Cambria"/>
                <a:ea typeface="Cambria"/>
                <a:cs typeface="Cambria"/>
                <a:sym typeface="Cambria"/>
              </a:rPr>
              <a:t>Gérer les utilisateurs</a:t>
            </a:r>
            <a:endParaRPr b="0" i="0" sz="4000" u="none" cap="none" strike="noStrike">
              <a:solidFill>
                <a:srgbClr val="234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3407A"/>
                </a:solidFill>
                <a:latin typeface="Cambria"/>
                <a:ea typeface="Cambria"/>
                <a:cs typeface="Cambria"/>
                <a:sym typeface="Cambria"/>
              </a:rPr>
              <a:t>et les groupes LDAP</a:t>
            </a:r>
            <a:endParaRPr b="0" i="0" sz="4000" u="none" cap="none" strike="noStrike">
              <a:solidFill>
                <a:srgbClr val="2340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g3faa4b4acb7_0_643"/>
          <p:cNvCxnSpPr/>
          <p:nvPr/>
        </p:nvCxnSpPr>
        <p:spPr>
          <a:xfrm>
            <a:off x="749828" y="4008120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g3faa4b4acb7_0_643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aa4b4acb7_0_643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aa4b4acb7_0_364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RAPPEL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aa4b4acb7_0_364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Structure de l'annuaire LDAP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g3faa4b4acb7_0_364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28" name="Google Shape;428;g3faa4b4acb7_0_364"/>
          <p:cNvGraphicFramePr/>
          <p:nvPr/>
        </p:nvGraphicFramePr>
        <p:xfrm>
          <a:off x="548655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{4663DDEE-3B14-4A77-8F08-7F5731DF1F38}</a:tableStyleId>
              </a:tblPr>
              <a:tblGrid>
                <a:gridCol w="2377525"/>
                <a:gridCol w="4389250"/>
                <a:gridCol w="43252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Élément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Valeur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Rôle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dc=starfleet,dc=lan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Racine de l'annuaire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Compte admin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cn=admin,dc=starfleet,dc=lan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Utilisé par ldapadd / ldapmodify / ldapdelete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ou=people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Branche utilisateurs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objectClass inetOrgPerson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ou=groups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Branche groupes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objectClass groupOfNames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340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g3faa4b4acb7_0_364"/>
          <p:cNvSpPr txBox="1"/>
          <p:nvPr/>
        </p:nvSpPr>
        <p:spPr>
          <a:xfrm>
            <a:off x="548655" y="4096512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Assigner les nouvelles entrées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aa4b4acb7_0_364"/>
          <p:cNvSpPr/>
          <p:nvPr/>
        </p:nvSpPr>
        <p:spPr>
          <a:xfrm>
            <a:off x="548655" y="4480560"/>
            <a:ext cx="5394900" cy="1920300"/>
          </a:xfrm>
          <a:prstGeom prst="roundRect">
            <a:avLst>
              <a:gd fmla="val 4286" name="adj"/>
            </a:avLst>
          </a:prstGeom>
          <a:solidFill>
            <a:srgbClr val="12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faa4b4acb7_0_364"/>
          <p:cNvSpPr txBox="1"/>
          <p:nvPr/>
        </p:nvSpPr>
        <p:spPr>
          <a:xfrm>
            <a:off x="777261" y="4645152"/>
            <a:ext cx="493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Déjà en place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aa4b4acb7_0_364"/>
          <p:cNvSpPr txBox="1"/>
          <p:nvPr/>
        </p:nvSpPr>
        <p:spPr>
          <a:xfrm>
            <a:off x="777261" y="5029200"/>
            <a:ext cx="4892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7E4F2"/>
                </a:solidFill>
                <a:latin typeface="Calibri"/>
                <a:ea typeface="Calibri"/>
                <a:cs typeface="Calibri"/>
                <a:sym typeface="Calibri"/>
              </a:rPr>
              <a:t>Un utilisateur de test (uid=rami) a été créé et vérifié. Le site www8.starfleet.lan authentifie déjà les connexions par bind LDAP.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aa4b4acb7_0_364"/>
          <p:cNvSpPr/>
          <p:nvPr/>
        </p:nvSpPr>
        <p:spPr>
          <a:xfrm>
            <a:off x="6218086" y="4480560"/>
            <a:ext cx="5422500" cy="1920300"/>
          </a:xfrm>
          <a:prstGeom prst="roundRect">
            <a:avLst>
              <a:gd fmla="val 4286" name="adj"/>
            </a:avLst>
          </a:prstGeom>
          <a:solidFill>
            <a:srgbClr val="12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aa4b4acb7_0_364"/>
          <p:cNvSpPr txBox="1"/>
          <p:nvPr/>
        </p:nvSpPr>
        <p:spPr>
          <a:xfrm>
            <a:off x="6446692" y="4645152"/>
            <a:ext cx="493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Ce que cette annexe ajoute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aa4b4acb7_0_364"/>
          <p:cNvSpPr txBox="1"/>
          <p:nvPr/>
        </p:nvSpPr>
        <p:spPr>
          <a:xfrm>
            <a:off x="6446692" y="5029200"/>
            <a:ext cx="5029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Créer des utilisateurs et des groupes, définir un mot de passe, gérer les membres, rechercher, modifier, supprimer et dépanner l'annuaire.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aa4b4acb7_0_364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aa4b4acb7_0_364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aa4b4acb7_0_381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PRÉPARATION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aa4b4acb7_0_381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 connecter et vérifier le service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g3faa4b4acb7_0_381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g3faa4b4acb7_0_381"/>
          <p:cNvSpPr txBox="1"/>
          <p:nvPr/>
        </p:nvSpPr>
        <p:spPr>
          <a:xfrm>
            <a:off x="548655" y="169164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Connexion SSH au Serveur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aa4b4acb7_0_381"/>
          <p:cNvSpPr/>
          <p:nvPr/>
        </p:nvSpPr>
        <p:spPr>
          <a:xfrm>
            <a:off x="548655" y="2103120"/>
            <a:ext cx="5394900" cy="1371600"/>
          </a:xfrm>
          <a:prstGeom prst="roundRect">
            <a:avLst>
              <a:gd fmla="val 4000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faa4b4acb7_0_381"/>
          <p:cNvSpPr/>
          <p:nvPr/>
        </p:nvSpPr>
        <p:spPr>
          <a:xfrm>
            <a:off x="731540" y="224942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faa4b4acb7_0_381"/>
          <p:cNvSpPr/>
          <p:nvPr/>
        </p:nvSpPr>
        <p:spPr>
          <a:xfrm>
            <a:off x="932713" y="224942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aa4b4acb7_0_381"/>
          <p:cNvSpPr/>
          <p:nvPr/>
        </p:nvSpPr>
        <p:spPr>
          <a:xfrm>
            <a:off x="1133886" y="224942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aa4b4acb7_0_381"/>
          <p:cNvSpPr txBox="1"/>
          <p:nvPr/>
        </p:nvSpPr>
        <p:spPr>
          <a:xfrm>
            <a:off x="749828" y="2487168"/>
            <a:ext cx="4992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ssh root@192.168.100.2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aa4b4acb7_0_381"/>
          <p:cNvSpPr txBox="1"/>
          <p:nvPr/>
        </p:nvSpPr>
        <p:spPr>
          <a:xfrm>
            <a:off x="548655" y="3611880"/>
            <a:ext cx="539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ldap-utils est déjà installé.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aa4b4acb7_0_381"/>
          <p:cNvSpPr txBox="1"/>
          <p:nvPr/>
        </p:nvSpPr>
        <p:spPr>
          <a:xfrm>
            <a:off x="6218086" y="1691640"/>
            <a:ext cx="5422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Vérifier le service slapd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aa4b4acb7_0_381"/>
          <p:cNvSpPr/>
          <p:nvPr/>
        </p:nvSpPr>
        <p:spPr>
          <a:xfrm>
            <a:off x="6218086" y="2103120"/>
            <a:ext cx="5422500" cy="1920300"/>
          </a:xfrm>
          <a:prstGeom prst="roundRect">
            <a:avLst>
              <a:gd fmla="val 2857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aa4b4acb7_0_381"/>
          <p:cNvSpPr/>
          <p:nvPr/>
        </p:nvSpPr>
        <p:spPr>
          <a:xfrm>
            <a:off x="6400971" y="224942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aa4b4acb7_0_381"/>
          <p:cNvSpPr/>
          <p:nvPr/>
        </p:nvSpPr>
        <p:spPr>
          <a:xfrm>
            <a:off x="6602144" y="224942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aa4b4acb7_0_381"/>
          <p:cNvSpPr/>
          <p:nvPr/>
        </p:nvSpPr>
        <p:spPr>
          <a:xfrm>
            <a:off x="6803317" y="224942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faa4b4acb7_0_381"/>
          <p:cNvSpPr txBox="1"/>
          <p:nvPr/>
        </p:nvSpPr>
        <p:spPr>
          <a:xfrm>
            <a:off x="6419259" y="2487168"/>
            <a:ext cx="50202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status slapd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ldapwhoami -x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-D "cn=admin,dc=starfleet,dc=lan" -W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aa4b4acb7_0_381"/>
          <p:cNvSpPr/>
          <p:nvPr/>
        </p:nvSpPr>
        <p:spPr>
          <a:xfrm>
            <a:off x="548655" y="4251960"/>
            <a:ext cx="11091900" cy="777300"/>
          </a:xfrm>
          <a:prstGeom prst="roundRect">
            <a:avLst>
              <a:gd fmla="val 7059" name="adj"/>
            </a:avLst>
          </a:prstGeom>
          <a:solidFill>
            <a:srgbClr val="16305A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aa4b4acb7_0_381"/>
          <p:cNvSpPr txBox="1"/>
          <p:nvPr/>
        </p:nvSpPr>
        <p:spPr>
          <a:xfrm>
            <a:off x="777261" y="4343400"/>
            <a:ext cx="1063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0" i="1" lang="en-US" sz="1250" u="none" cap="none" strike="noStrike">
                <a:solidFill>
                  <a:srgbClr val="F5D98C"/>
                </a:solidFill>
                <a:latin typeface="Calibri"/>
                <a:ea typeface="Calibri"/>
                <a:cs typeface="Calibri"/>
                <a:sym typeface="Calibri"/>
              </a:rPr>
              <a:t>Toutes les commandes ldap* de cette annexe s'exécutent sur la VM Serveur, en root, comme le reste de l'administration du projet.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aa4b4acb7_0_381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aa4b4acb7_0_381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aa4b4acb7_0_405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UTILISATEURS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aa4b4acb7_0_405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Rédiger le fichier LDIF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g3faa4b4acb7_0_405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g3faa4b4acb7_0_405"/>
          <p:cNvSpPr/>
          <p:nvPr/>
        </p:nvSpPr>
        <p:spPr>
          <a:xfrm>
            <a:off x="548655" y="1691640"/>
            <a:ext cx="4937700" cy="41148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faa4b4acb7_0_405"/>
          <p:cNvSpPr txBox="1"/>
          <p:nvPr/>
        </p:nvSpPr>
        <p:spPr>
          <a:xfrm>
            <a:off x="822982" y="1874520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Champs de inetOrgPerson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aa4b4acb7_0_405"/>
          <p:cNvSpPr/>
          <p:nvPr/>
        </p:nvSpPr>
        <p:spPr>
          <a:xfrm>
            <a:off x="822982" y="247802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faa4b4acb7_0_405"/>
          <p:cNvSpPr txBox="1"/>
          <p:nvPr/>
        </p:nvSpPr>
        <p:spPr>
          <a:xfrm>
            <a:off x="1079021" y="2377440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dn — chemin complet de l'entrée dans l'annuaire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aa4b4acb7_0_405"/>
          <p:cNvSpPr/>
          <p:nvPr/>
        </p:nvSpPr>
        <p:spPr>
          <a:xfrm>
            <a:off x="822982" y="3136392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aa4b4acb7_0_405"/>
          <p:cNvSpPr txBox="1"/>
          <p:nvPr/>
        </p:nvSpPr>
        <p:spPr>
          <a:xfrm>
            <a:off x="1079021" y="3035808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objectClass: inetOrgPerson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aa4b4acb7_0_405"/>
          <p:cNvSpPr/>
          <p:nvPr/>
        </p:nvSpPr>
        <p:spPr>
          <a:xfrm>
            <a:off x="822982" y="3794760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aa4b4acb7_0_405"/>
          <p:cNvSpPr txBox="1"/>
          <p:nvPr/>
        </p:nvSpPr>
        <p:spPr>
          <a:xfrm>
            <a:off x="1079021" y="3694176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cn et sn — nom complet et nom de famille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aa4b4acb7_0_405"/>
          <p:cNvSpPr/>
          <p:nvPr/>
        </p:nvSpPr>
        <p:spPr>
          <a:xfrm>
            <a:off x="822982" y="4453128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faa4b4acb7_0_405"/>
          <p:cNvSpPr txBox="1"/>
          <p:nvPr/>
        </p:nvSpPr>
        <p:spPr>
          <a:xfrm>
            <a:off x="1079021" y="4352544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uid — identifiant de connexion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aa4b4acb7_0_405"/>
          <p:cNvSpPr/>
          <p:nvPr/>
        </p:nvSpPr>
        <p:spPr>
          <a:xfrm>
            <a:off x="822982" y="5111496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faa4b4acb7_0_405"/>
          <p:cNvSpPr txBox="1"/>
          <p:nvPr/>
        </p:nvSpPr>
        <p:spPr>
          <a:xfrm>
            <a:off x="1079021" y="5010912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mail — adresse de contact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aa4b4acb7_0_405"/>
          <p:cNvSpPr/>
          <p:nvPr/>
        </p:nvSpPr>
        <p:spPr>
          <a:xfrm>
            <a:off x="5669431" y="1691640"/>
            <a:ext cx="5971200" cy="4114800"/>
          </a:xfrm>
          <a:prstGeom prst="roundRect">
            <a:avLst>
              <a:gd fmla="val 2000" name="adj"/>
            </a:avLst>
          </a:prstGeom>
          <a:solidFill>
            <a:srgbClr val="12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faa4b4acb7_0_405"/>
          <p:cNvSpPr txBox="1"/>
          <p:nvPr/>
        </p:nvSpPr>
        <p:spPr>
          <a:xfrm>
            <a:off x="5943758" y="187452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spock.ldif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aa4b4acb7_0_405"/>
          <p:cNvSpPr/>
          <p:nvPr/>
        </p:nvSpPr>
        <p:spPr>
          <a:xfrm>
            <a:off x="5943758" y="2240280"/>
            <a:ext cx="5422500" cy="3383400"/>
          </a:xfrm>
          <a:prstGeom prst="roundRect">
            <a:avLst>
              <a:gd fmla="val 1622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aa4b4acb7_0_405"/>
          <p:cNvSpPr/>
          <p:nvPr/>
        </p:nvSpPr>
        <p:spPr>
          <a:xfrm>
            <a:off x="6126643" y="238658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aa4b4acb7_0_405"/>
          <p:cNvSpPr/>
          <p:nvPr/>
        </p:nvSpPr>
        <p:spPr>
          <a:xfrm>
            <a:off x="6327817" y="238658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aa4b4acb7_0_405"/>
          <p:cNvSpPr/>
          <p:nvPr/>
        </p:nvSpPr>
        <p:spPr>
          <a:xfrm>
            <a:off x="6528990" y="238658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aa4b4acb7_0_405"/>
          <p:cNvSpPr txBox="1"/>
          <p:nvPr/>
        </p:nvSpPr>
        <p:spPr>
          <a:xfrm>
            <a:off x="6144932" y="2624328"/>
            <a:ext cx="50202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dn: uid=spock,ou=people,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objectClass: inetOrgPerson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uid: spock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cn: Spock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sn: Spock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mail: spock@starfleet.lan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aa4b4acb7_0_405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aa4b4acb7_0_405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aa4b4acb7_0_433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UTILISATEURS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aa4b4acb7_0_433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Créer le compte avec ldapadd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" name="Google Shape;499;g3faa4b4acb7_0_433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g3faa4b4acb7_0_433"/>
          <p:cNvSpPr txBox="1"/>
          <p:nvPr/>
        </p:nvSpPr>
        <p:spPr>
          <a:xfrm>
            <a:off x="548655" y="1691640"/>
            <a:ext cx="10058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E4F2"/>
                </a:solidFill>
                <a:latin typeface="Calibri"/>
                <a:ea typeface="Calibri"/>
                <a:cs typeface="Calibri"/>
                <a:sym typeface="Calibri"/>
              </a:rPr>
              <a:t>Depuis le dossier contenant spock.ldif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aa4b4acb7_0_433"/>
          <p:cNvSpPr/>
          <p:nvPr/>
        </p:nvSpPr>
        <p:spPr>
          <a:xfrm>
            <a:off x="548655" y="2148840"/>
            <a:ext cx="11091900" cy="2103000"/>
          </a:xfrm>
          <a:prstGeom prst="roundRect">
            <a:avLst>
              <a:gd fmla="val 2609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faa4b4acb7_0_433"/>
          <p:cNvSpPr/>
          <p:nvPr/>
        </p:nvSpPr>
        <p:spPr>
          <a:xfrm>
            <a:off x="731540" y="229514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aa4b4acb7_0_433"/>
          <p:cNvSpPr/>
          <p:nvPr/>
        </p:nvSpPr>
        <p:spPr>
          <a:xfrm>
            <a:off x="932713" y="229514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faa4b4acb7_0_433"/>
          <p:cNvSpPr/>
          <p:nvPr/>
        </p:nvSpPr>
        <p:spPr>
          <a:xfrm>
            <a:off x="1133886" y="229514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faa4b4acb7_0_433"/>
          <p:cNvSpPr txBox="1"/>
          <p:nvPr/>
        </p:nvSpPr>
        <p:spPr>
          <a:xfrm>
            <a:off x="749828" y="2532888"/>
            <a:ext cx="1068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ldapadd -x -D "cn=admin,dc=starfleet,dc=lan"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-W -f spock.ldif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Enter LDAP Password: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adding new entry "uid=spock,ou=people,dc=starfleet,dc=lan"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aa4b4acb7_0_433"/>
          <p:cNvSpPr/>
          <p:nvPr/>
        </p:nvSpPr>
        <p:spPr>
          <a:xfrm>
            <a:off x="548655" y="4434840"/>
            <a:ext cx="11091900" cy="777300"/>
          </a:xfrm>
          <a:prstGeom prst="roundRect">
            <a:avLst>
              <a:gd fmla="val 7059" name="adj"/>
            </a:avLst>
          </a:prstGeom>
          <a:solidFill>
            <a:srgbClr val="16305A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faa4b4acb7_0_433"/>
          <p:cNvSpPr txBox="1"/>
          <p:nvPr/>
        </p:nvSpPr>
        <p:spPr>
          <a:xfrm>
            <a:off x="777261" y="4526280"/>
            <a:ext cx="1063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0" i="1" lang="en-US" sz="1250" u="none" cap="none" strike="noStrike">
                <a:solidFill>
                  <a:srgbClr val="F5D98C"/>
                </a:solidFill>
                <a:latin typeface="Calibri"/>
                <a:ea typeface="Calibri"/>
                <a:cs typeface="Calibri"/>
                <a:sym typeface="Calibri"/>
              </a:rPr>
              <a:t>-x = authentification simple, -D = compte utilisé pour se connecter, -W = demande le mot de passe admin, -f = fichier LDIF à charger.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aa4b4acb7_0_433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aa4b4acb7_0_433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aa4b4acb7_0_450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UTILISATEURS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aa4b4acb7_0_450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Définir un mot de passe sécurisé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g3faa4b4acb7_0_450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g3faa4b4acb7_0_450"/>
          <p:cNvSpPr txBox="1"/>
          <p:nvPr/>
        </p:nvSpPr>
        <p:spPr>
          <a:xfrm>
            <a:off x="548655" y="169164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Générer le hash du mot de passe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faa4b4acb7_0_450"/>
          <p:cNvSpPr/>
          <p:nvPr/>
        </p:nvSpPr>
        <p:spPr>
          <a:xfrm>
            <a:off x="548655" y="2057400"/>
            <a:ext cx="5394900" cy="1417200"/>
          </a:xfrm>
          <a:prstGeom prst="roundRect">
            <a:avLst>
              <a:gd fmla="val 3871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aa4b4acb7_0_450"/>
          <p:cNvSpPr/>
          <p:nvPr/>
        </p:nvSpPr>
        <p:spPr>
          <a:xfrm>
            <a:off x="731540" y="220370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faa4b4acb7_0_450"/>
          <p:cNvSpPr/>
          <p:nvPr/>
        </p:nvSpPr>
        <p:spPr>
          <a:xfrm>
            <a:off x="932713" y="220370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faa4b4acb7_0_450"/>
          <p:cNvSpPr/>
          <p:nvPr/>
        </p:nvSpPr>
        <p:spPr>
          <a:xfrm>
            <a:off x="1133886" y="220370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faa4b4acb7_0_450"/>
          <p:cNvSpPr txBox="1"/>
          <p:nvPr/>
        </p:nvSpPr>
        <p:spPr>
          <a:xfrm>
            <a:off x="749828" y="2441448"/>
            <a:ext cx="4992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slappasswd -s "MotDePasseSpock1*"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{SSHA}k9F3zQe8...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aa4b4acb7_0_450"/>
          <p:cNvSpPr txBox="1"/>
          <p:nvPr/>
        </p:nvSpPr>
        <p:spPr>
          <a:xfrm>
            <a:off x="548655" y="361188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Créer pass_spock.ldif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aa4b4acb7_0_450"/>
          <p:cNvSpPr/>
          <p:nvPr/>
        </p:nvSpPr>
        <p:spPr>
          <a:xfrm>
            <a:off x="548655" y="3977640"/>
            <a:ext cx="5394900" cy="1691700"/>
          </a:xfrm>
          <a:prstGeom prst="roundRect">
            <a:avLst>
              <a:gd fmla="val 3243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faa4b4acb7_0_450"/>
          <p:cNvSpPr/>
          <p:nvPr/>
        </p:nvSpPr>
        <p:spPr>
          <a:xfrm>
            <a:off x="731540" y="412394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faa4b4acb7_0_450"/>
          <p:cNvSpPr/>
          <p:nvPr/>
        </p:nvSpPr>
        <p:spPr>
          <a:xfrm>
            <a:off x="932713" y="412394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aa4b4acb7_0_450"/>
          <p:cNvSpPr/>
          <p:nvPr/>
        </p:nvSpPr>
        <p:spPr>
          <a:xfrm>
            <a:off x="1133886" y="412394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faa4b4acb7_0_450"/>
          <p:cNvSpPr txBox="1"/>
          <p:nvPr/>
        </p:nvSpPr>
        <p:spPr>
          <a:xfrm>
            <a:off x="749828" y="4361688"/>
            <a:ext cx="4992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dn: uid=spock,ou=people,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changetype: modify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replace: userPassword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userPassword: {SSHA}k9F3zQe8...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aa4b4acb7_0_450"/>
          <p:cNvSpPr txBox="1"/>
          <p:nvPr/>
        </p:nvSpPr>
        <p:spPr>
          <a:xfrm>
            <a:off x="6218086" y="1691640"/>
            <a:ext cx="5422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Appliquer la modification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aa4b4acb7_0_450"/>
          <p:cNvSpPr/>
          <p:nvPr/>
        </p:nvSpPr>
        <p:spPr>
          <a:xfrm>
            <a:off x="6218086" y="2057400"/>
            <a:ext cx="5422500" cy="1417200"/>
          </a:xfrm>
          <a:prstGeom prst="roundRect">
            <a:avLst>
              <a:gd fmla="val 3871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faa4b4acb7_0_450"/>
          <p:cNvSpPr/>
          <p:nvPr/>
        </p:nvSpPr>
        <p:spPr>
          <a:xfrm>
            <a:off x="6400971" y="220370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faa4b4acb7_0_450"/>
          <p:cNvSpPr/>
          <p:nvPr/>
        </p:nvSpPr>
        <p:spPr>
          <a:xfrm>
            <a:off x="6602144" y="220370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faa4b4acb7_0_450"/>
          <p:cNvSpPr/>
          <p:nvPr/>
        </p:nvSpPr>
        <p:spPr>
          <a:xfrm>
            <a:off x="6803317" y="220370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faa4b4acb7_0_450"/>
          <p:cNvSpPr txBox="1"/>
          <p:nvPr/>
        </p:nvSpPr>
        <p:spPr>
          <a:xfrm>
            <a:off x="6419259" y="2441448"/>
            <a:ext cx="502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ldapmodify -x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-D "cn=admin,dc=starfleet,dc=lan"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-W -f pass_spock.ldif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aa4b4acb7_0_450"/>
          <p:cNvSpPr/>
          <p:nvPr/>
        </p:nvSpPr>
        <p:spPr>
          <a:xfrm>
            <a:off x="6218075" y="3977700"/>
            <a:ext cx="5422500" cy="1691700"/>
          </a:xfrm>
          <a:prstGeom prst="roundRect">
            <a:avLst>
              <a:gd fmla="val 2727" name="adj"/>
            </a:avLst>
          </a:prstGeom>
          <a:solidFill>
            <a:srgbClr val="16305A"/>
          </a:solidFill>
          <a:ln cap="flat" cmpd="sng" w="127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faa4b4acb7_0_450"/>
          <p:cNvSpPr txBox="1"/>
          <p:nvPr/>
        </p:nvSpPr>
        <p:spPr>
          <a:xfrm>
            <a:off x="6446700" y="4412049"/>
            <a:ext cx="4965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⚠ </a:t>
            </a:r>
            <a:r>
              <a:rPr b="0" i="1" lang="en-US" sz="1250" u="none" cap="none" strike="noStrike">
                <a:solidFill>
                  <a:srgbClr val="F5D98C"/>
                </a:solidFill>
                <a:latin typeface="Calibri"/>
                <a:ea typeface="Calibri"/>
                <a:cs typeface="Calibri"/>
                <a:sym typeface="Calibri"/>
              </a:rPr>
              <a:t>Ne jamais écrire un mot de passe en clair dans un LDIF utilisateur : toujours passer par slappasswd pour générer un hash {SSHA} avant de l'insérer.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faa4b4acb7_0_450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aa4b4acb7_0_450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aa4b4acb7_0_479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GROUPES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aa4b4acb7_0_479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Créer un groupe LDAP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g3faa4b4acb7_0_479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g3faa4b4acb7_0_479"/>
          <p:cNvSpPr/>
          <p:nvPr/>
        </p:nvSpPr>
        <p:spPr>
          <a:xfrm>
            <a:off x="548655" y="1691640"/>
            <a:ext cx="4937700" cy="41148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faa4b4acb7_0_479"/>
          <p:cNvSpPr txBox="1"/>
          <p:nvPr/>
        </p:nvSpPr>
        <p:spPr>
          <a:xfrm>
            <a:off x="822982" y="1874520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Champs de groupOfNames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aa4b4acb7_0_479"/>
          <p:cNvSpPr/>
          <p:nvPr/>
        </p:nvSpPr>
        <p:spPr>
          <a:xfrm>
            <a:off x="822982" y="247802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aa4b4acb7_0_479"/>
          <p:cNvSpPr txBox="1"/>
          <p:nvPr/>
        </p:nvSpPr>
        <p:spPr>
          <a:xfrm>
            <a:off x="1079021" y="2377440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dn — chemin de l'entrée sous ou=groups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aa4b4acb7_0_479"/>
          <p:cNvSpPr/>
          <p:nvPr/>
        </p:nvSpPr>
        <p:spPr>
          <a:xfrm>
            <a:off x="822982" y="325526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faa4b4acb7_0_479"/>
          <p:cNvSpPr txBox="1"/>
          <p:nvPr/>
        </p:nvSpPr>
        <p:spPr>
          <a:xfrm>
            <a:off x="1079021" y="3154680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objectClass: groupOfNames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aa4b4acb7_0_479"/>
          <p:cNvSpPr/>
          <p:nvPr/>
        </p:nvSpPr>
        <p:spPr>
          <a:xfrm>
            <a:off x="822982" y="403250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faa4b4acb7_0_479"/>
          <p:cNvSpPr txBox="1"/>
          <p:nvPr/>
        </p:nvSpPr>
        <p:spPr>
          <a:xfrm>
            <a:off x="1079021" y="3931920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cn — nom du groupe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aa4b4acb7_0_479"/>
          <p:cNvSpPr/>
          <p:nvPr/>
        </p:nvSpPr>
        <p:spPr>
          <a:xfrm>
            <a:off x="822982" y="480974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faa4b4acb7_0_479"/>
          <p:cNvSpPr txBox="1"/>
          <p:nvPr/>
        </p:nvSpPr>
        <p:spPr>
          <a:xfrm>
            <a:off x="1079021" y="4709160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member — DN complet d'au moins un membre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aa4b4acb7_0_479"/>
          <p:cNvSpPr/>
          <p:nvPr/>
        </p:nvSpPr>
        <p:spPr>
          <a:xfrm>
            <a:off x="5669431" y="1691640"/>
            <a:ext cx="5971200" cy="4114800"/>
          </a:xfrm>
          <a:prstGeom prst="roundRect">
            <a:avLst>
              <a:gd fmla="val 2000" name="adj"/>
            </a:avLst>
          </a:prstGeom>
          <a:solidFill>
            <a:srgbClr val="12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faa4b4acb7_0_479"/>
          <p:cNvSpPr txBox="1"/>
          <p:nvPr/>
        </p:nvSpPr>
        <p:spPr>
          <a:xfrm>
            <a:off x="5943758" y="187452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group.ldif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aa4b4acb7_0_479"/>
          <p:cNvSpPr/>
          <p:nvPr/>
        </p:nvSpPr>
        <p:spPr>
          <a:xfrm>
            <a:off x="5943758" y="2240275"/>
            <a:ext cx="5422500" cy="1902000"/>
          </a:xfrm>
          <a:prstGeom prst="roundRect">
            <a:avLst>
              <a:gd fmla="val 3158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faa4b4acb7_0_479"/>
          <p:cNvSpPr/>
          <p:nvPr/>
        </p:nvSpPr>
        <p:spPr>
          <a:xfrm>
            <a:off x="6126643" y="238658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aa4b4acb7_0_479"/>
          <p:cNvSpPr/>
          <p:nvPr/>
        </p:nvSpPr>
        <p:spPr>
          <a:xfrm>
            <a:off x="6327817" y="238658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faa4b4acb7_0_479"/>
          <p:cNvSpPr/>
          <p:nvPr/>
        </p:nvSpPr>
        <p:spPr>
          <a:xfrm>
            <a:off x="6528990" y="238658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faa4b4acb7_0_479"/>
          <p:cNvSpPr txBox="1"/>
          <p:nvPr/>
        </p:nvSpPr>
        <p:spPr>
          <a:xfrm>
            <a:off x="6144932" y="2624328"/>
            <a:ext cx="5020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dn: cn=ingenieurs,ou=groups,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objectClass: groupOfNames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cn: ingenieurs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member: uid=spock,ou=people,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aa4b4acb7_0_479"/>
          <p:cNvSpPr txBox="1"/>
          <p:nvPr/>
        </p:nvSpPr>
        <p:spPr>
          <a:xfrm>
            <a:off x="5943758" y="4160520"/>
            <a:ext cx="539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4F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D7E4F2"/>
                </a:solidFill>
                <a:latin typeface="Calibri"/>
                <a:ea typeface="Calibri"/>
                <a:cs typeface="Calibri"/>
                <a:sym typeface="Calibri"/>
              </a:rPr>
              <a:t>Ajout de l'entrée 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aa4b4acb7_0_479"/>
          <p:cNvSpPr/>
          <p:nvPr/>
        </p:nvSpPr>
        <p:spPr>
          <a:xfrm>
            <a:off x="5943758" y="4434840"/>
            <a:ext cx="5422500" cy="1188600"/>
          </a:xfrm>
          <a:prstGeom prst="roundRect">
            <a:avLst>
              <a:gd fmla="val 4615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faa4b4acb7_0_479"/>
          <p:cNvSpPr/>
          <p:nvPr/>
        </p:nvSpPr>
        <p:spPr>
          <a:xfrm>
            <a:off x="6126643" y="458114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faa4b4acb7_0_479"/>
          <p:cNvSpPr/>
          <p:nvPr/>
        </p:nvSpPr>
        <p:spPr>
          <a:xfrm>
            <a:off x="6327817" y="458114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faa4b4acb7_0_479"/>
          <p:cNvSpPr/>
          <p:nvPr/>
        </p:nvSpPr>
        <p:spPr>
          <a:xfrm>
            <a:off x="6528990" y="458114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aa4b4acb7_0_479"/>
          <p:cNvSpPr txBox="1"/>
          <p:nvPr/>
        </p:nvSpPr>
        <p:spPr>
          <a:xfrm>
            <a:off x="6144932" y="4818888"/>
            <a:ext cx="502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ldapadd -x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-D "cn=admin,dc=starfleet,dc=lan"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-W -f group.ldif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aa4b4acb7_0_479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aa4b4acb7_0_479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aa4b4acb7_0_511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GROUPES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aa4b4acb7_0_511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Ajouter ou retirer un membre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" name="Google Shape;580;g3faa4b4acb7_0_511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g3faa4b4acb7_0_511"/>
          <p:cNvSpPr txBox="1"/>
          <p:nvPr/>
        </p:nvSpPr>
        <p:spPr>
          <a:xfrm>
            <a:off x="548655" y="1691640"/>
            <a:ext cx="539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Ajouter un membre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aa4b4acb7_0_511"/>
          <p:cNvSpPr/>
          <p:nvPr/>
        </p:nvSpPr>
        <p:spPr>
          <a:xfrm>
            <a:off x="548675" y="2103125"/>
            <a:ext cx="5394900" cy="3111600"/>
          </a:xfrm>
          <a:prstGeom prst="roundRect">
            <a:avLst>
              <a:gd fmla="val 2069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faa4b4acb7_0_511"/>
          <p:cNvSpPr/>
          <p:nvPr/>
        </p:nvSpPr>
        <p:spPr>
          <a:xfrm>
            <a:off x="731540" y="224942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faa4b4acb7_0_511"/>
          <p:cNvSpPr/>
          <p:nvPr/>
        </p:nvSpPr>
        <p:spPr>
          <a:xfrm>
            <a:off x="932713" y="224942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aa4b4acb7_0_511"/>
          <p:cNvSpPr/>
          <p:nvPr/>
        </p:nvSpPr>
        <p:spPr>
          <a:xfrm>
            <a:off x="1133886" y="224942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faa4b4acb7_0_511"/>
          <p:cNvSpPr txBox="1"/>
          <p:nvPr/>
        </p:nvSpPr>
        <p:spPr>
          <a:xfrm>
            <a:off x="749828" y="2487168"/>
            <a:ext cx="49926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cat add_member.ldif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dn: cn=ingenieurs,ou=groups,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changetype: modify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add: member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member: uid=rami,ou=people,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ldapmodify -x -D "cn=admin,..."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-W -f add_member.ldif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aa4b4acb7_0_511"/>
          <p:cNvSpPr txBox="1"/>
          <p:nvPr/>
        </p:nvSpPr>
        <p:spPr>
          <a:xfrm>
            <a:off x="6218086" y="1691640"/>
            <a:ext cx="5422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Retirer un membre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aa4b4acb7_0_511"/>
          <p:cNvSpPr/>
          <p:nvPr/>
        </p:nvSpPr>
        <p:spPr>
          <a:xfrm>
            <a:off x="6218100" y="2103125"/>
            <a:ext cx="5422500" cy="3111600"/>
          </a:xfrm>
          <a:prstGeom prst="roundRect">
            <a:avLst>
              <a:gd fmla="val 2069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aa4b4acb7_0_511"/>
          <p:cNvSpPr/>
          <p:nvPr/>
        </p:nvSpPr>
        <p:spPr>
          <a:xfrm>
            <a:off x="6400971" y="224942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faa4b4acb7_0_511"/>
          <p:cNvSpPr/>
          <p:nvPr/>
        </p:nvSpPr>
        <p:spPr>
          <a:xfrm>
            <a:off x="6602144" y="224942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aa4b4acb7_0_511"/>
          <p:cNvSpPr/>
          <p:nvPr/>
        </p:nvSpPr>
        <p:spPr>
          <a:xfrm>
            <a:off x="6803317" y="224942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faa4b4acb7_0_511"/>
          <p:cNvSpPr txBox="1"/>
          <p:nvPr/>
        </p:nvSpPr>
        <p:spPr>
          <a:xfrm>
            <a:off x="6419259" y="2487168"/>
            <a:ext cx="50202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cat del_member.ldif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dn: cn=ingenieurs,ou=groups,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changetype: modify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delete: member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member: uid=rami,ou=people,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dc=starfleet,dc=lan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ldapmodify -x -D "cn=admin,..."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-W -f del_member.ldif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aa4b4acb7_0_511"/>
          <p:cNvSpPr txBox="1"/>
          <p:nvPr/>
        </p:nvSpPr>
        <p:spPr>
          <a:xfrm>
            <a:off x="548655" y="5300857"/>
            <a:ext cx="110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Un groupe groupOfNames ne peut pas rester sans membre : pour vider un groupe, supprimez-le plutôt avec ldapdelete.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aa4b4acb7_0_511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aa4b4acb7_0_511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aa4b4acb7_0_533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VÉRIFICATION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faa4b4acb7_0_533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Rechercher dans l'annuaire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Google Shape;603;g3faa4b4acb7_0_533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04" name="Google Shape;604;g3faa4b4acb7_0_533"/>
          <p:cNvGraphicFramePr/>
          <p:nvPr/>
        </p:nvGraphicFramePr>
        <p:xfrm>
          <a:off x="548655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{4663DDEE-3B14-4A77-8F08-7F5731DF1F38}</a:tableStyleId>
              </a:tblPr>
              <a:tblGrid>
                <a:gridCol w="3840575"/>
                <a:gridCol w="7251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Commande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Lister tous les utilisateurs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ldapsearch -x -b "ou=people,dc=starfleet,dc=lan" cn mail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Lister tous les groupes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ldapsearch -x -b "ou=groups,dc=starfleet,dc=lan" cn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Chercher un utilisateur précis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ldapsearch -x -b "dc=starfleet,dc=lan" "(uid=spock)"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Voir les membres d'un groupe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ldapsearch -x -b "dc=starfleet,dc=lan" "(cn=ingenieurs)" member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Tester l'authentification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ldapwhoami -x -D "uid=spock,ou=people,..." -W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5" name="Google Shape;605;g3faa4b4acb7_0_533"/>
          <p:cNvSpPr txBox="1"/>
          <p:nvPr/>
        </p:nvSpPr>
        <p:spPr>
          <a:xfrm>
            <a:off x="548655" y="4986020"/>
            <a:ext cx="110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Toutes ces recherches fonctionnent sans le compte admin.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faa4b4acb7_0_533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faa4b4acb7_0_533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aa4b4acb7_0_544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MODIFICATION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aa4b4acb7_0_544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Modifier ou supprimer une entrée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5" name="Google Shape;615;g3faa4b4acb7_0_544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g3faa4b4acb7_0_544"/>
          <p:cNvSpPr/>
          <p:nvPr/>
        </p:nvSpPr>
        <p:spPr>
          <a:xfrm>
            <a:off x="548655" y="1691640"/>
            <a:ext cx="5394900" cy="41148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aa4b4acb7_0_544"/>
          <p:cNvSpPr txBox="1"/>
          <p:nvPr/>
        </p:nvSpPr>
        <p:spPr>
          <a:xfrm>
            <a:off x="822982" y="187452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Modifier un attribut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aa4b4acb7_0_544"/>
          <p:cNvSpPr/>
          <p:nvPr/>
        </p:nvSpPr>
        <p:spPr>
          <a:xfrm>
            <a:off x="822982" y="2423160"/>
            <a:ext cx="329100" cy="329100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faa4b4acb7_0_544"/>
          <p:cNvSpPr txBox="1"/>
          <p:nvPr/>
        </p:nvSpPr>
        <p:spPr>
          <a:xfrm>
            <a:off x="822982" y="2423160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faa4b4acb7_0_544"/>
          <p:cNvSpPr txBox="1"/>
          <p:nvPr/>
        </p:nvSpPr>
        <p:spPr>
          <a:xfrm>
            <a:off x="1269097" y="2482552"/>
            <a:ext cx="3977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Créer un fichier LDIF changetype: modify avec l'attribut à remplacer (replace)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aa4b4acb7_0_544"/>
          <p:cNvSpPr/>
          <p:nvPr/>
        </p:nvSpPr>
        <p:spPr>
          <a:xfrm>
            <a:off x="822982" y="3429000"/>
            <a:ext cx="329100" cy="329100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aa4b4acb7_0_544"/>
          <p:cNvSpPr txBox="1"/>
          <p:nvPr/>
        </p:nvSpPr>
        <p:spPr>
          <a:xfrm>
            <a:off x="822982" y="3429000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faa4b4acb7_0_544"/>
          <p:cNvSpPr txBox="1"/>
          <p:nvPr/>
        </p:nvSpPr>
        <p:spPr>
          <a:xfrm>
            <a:off x="1269097" y="3488392"/>
            <a:ext cx="3977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Exécuter ldapmodify -x -D "cn=admin,..." -W -f modif.ldif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3faa4b4acb7_0_544"/>
          <p:cNvSpPr/>
          <p:nvPr/>
        </p:nvSpPr>
        <p:spPr>
          <a:xfrm>
            <a:off x="822982" y="4434840"/>
            <a:ext cx="329100" cy="329100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faa4b4acb7_0_544"/>
          <p:cNvSpPr txBox="1"/>
          <p:nvPr/>
        </p:nvSpPr>
        <p:spPr>
          <a:xfrm>
            <a:off x="822982" y="4434840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faa4b4acb7_0_544"/>
          <p:cNvSpPr txBox="1"/>
          <p:nvPr/>
        </p:nvSpPr>
        <p:spPr>
          <a:xfrm>
            <a:off x="1269097" y="4494232"/>
            <a:ext cx="3977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Vérifier le résultat avec ldapsearch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aa4b4acb7_0_544"/>
          <p:cNvSpPr/>
          <p:nvPr/>
        </p:nvSpPr>
        <p:spPr>
          <a:xfrm>
            <a:off x="6218086" y="1691640"/>
            <a:ext cx="5422500" cy="4114800"/>
          </a:xfrm>
          <a:prstGeom prst="roundRect">
            <a:avLst>
              <a:gd fmla="val 2000" name="adj"/>
            </a:avLst>
          </a:prstGeom>
          <a:solidFill>
            <a:srgbClr val="122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faa4b4acb7_0_544"/>
          <p:cNvSpPr txBox="1"/>
          <p:nvPr/>
        </p:nvSpPr>
        <p:spPr>
          <a:xfrm>
            <a:off x="6492413" y="1874520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Supprimer une entrée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faa4b4acb7_0_544"/>
          <p:cNvSpPr/>
          <p:nvPr/>
        </p:nvSpPr>
        <p:spPr>
          <a:xfrm>
            <a:off x="6492413" y="2423160"/>
            <a:ext cx="329100" cy="329100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aa4b4acb7_0_544"/>
          <p:cNvSpPr txBox="1"/>
          <p:nvPr/>
        </p:nvSpPr>
        <p:spPr>
          <a:xfrm>
            <a:off x="6492413" y="2423160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faa4b4acb7_0_544"/>
          <p:cNvSpPr txBox="1"/>
          <p:nvPr/>
        </p:nvSpPr>
        <p:spPr>
          <a:xfrm>
            <a:off x="6949625" y="2482552"/>
            <a:ext cx="4114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Identifier le DN exact de l'entrée à supprimer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aa4b4acb7_0_544"/>
          <p:cNvSpPr/>
          <p:nvPr/>
        </p:nvSpPr>
        <p:spPr>
          <a:xfrm>
            <a:off x="6492413" y="3429000"/>
            <a:ext cx="329100" cy="329100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faa4b4acb7_0_544"/>
          <p:cNvSpPr txBox="1"/>
          <p:nvPr/>
        </p:nvSpPr>
        <p:spPr>
          <a:xfrm>
            <a:off x="6492413" y="3429000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faa4b4acb7_0_544"/>
          <p:cNvSpPr txBox="1"/>
          <p:nvPr/>
        </p:nvSpPr>
        <p:spPr>
          <a:xfrm>
            <a:off x="6949625" y="3466197"/>
            <a:ext cx="4114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Exécuter ldapdelete -x -D "cn=admin,..." -W "uid=spock,ou=people,dc=starfleet,dc=lan"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faa4b4acb7_0_544"/>
          <p:cNvSpPr/>
          <p:nvPr/>
        </p:nvSpPr>
        <p:spPr>
          <a:xfrm>
            <a:off x="6492413" y="4434840"/>
            <a:ext cx="329100" cy="329100"/>
          </a:xfrm>
          <a:prstGeom prst="roundRect">
            <a:avLst>
              <a:gd fmla="val 50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aa4b4acb7_0_544"/>
          <p:cNvSpPr txBox="1"/>
          <p:nvPr/>
        </p:nvSpPr>
        <p:spPr>
          <a:xfrm>
            <a:off x="6492413" y="4434840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faa4b4acb7_0_544"/>
          <p:cNvSpPr txBox="1"/>
          <p:nvPr/>
        </p:nvSpPr>
        <p:spPr>
          <a:xfrm>
            <a:off x="6949625" y="4494232"/>
            <a:ext cx="4114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Confirmer la suppression avec ldapsearch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aa4b4acb7_0_544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aa4b4acb7_0_544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aa4b4acb7_0_575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DÉPANNAGE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aa4b4acb7_0_575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Erreurs courantes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7" name="Google Shape;647;g3faa4b4acb7_0_575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48" name="Google Shape;648;g3faa4b4acb7_0_575"/>
          <p:cNvGraphicFramePr/>
          <p:nvPr/>
        </p:nvGraphicFramePr>
        <p:xfrm>
          <a:off x="548655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{4663DDEE-3B14-4A77-8F08-7F5731DF1F38}</a:tableStyleId>
              </a:tblPr>
              <a:tblGrid>
                <a:gridCol w="4846450"/>
                <a:gridCol w="62455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Erreur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Cause probable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1F3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ldap_bind: Invalid credentials (49)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 de passe admin incorrect ou DN mal orthographié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ldap_add: Already exists (68)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L'entrée existe déjà — utiliser ldapmodify plutôt que ldapadd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ldap_add: No such object (32)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L'OU parente (ou=people ou ou=groups) n'existe pas encore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 site web refuse la connexion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 mot de passe a été inséré en clair au lieu d'un hash {SSHA}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ldapmodify ne répond pas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B1F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Oubli de -W ou -x, ou slapd ne tourne pas (port 389)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9" name="Google Shape;649;g3faa4b4acb7_0_575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faa4b4acb7_0_575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aa4b4acb7_0_585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PROBLÈME LDAP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g3faa4b4acb7_0_585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Invalid credentials (49)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" name="Google Shape;658;g3faa4b4acb7_0_585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g3faa4b4acb7_0_585"/>
          <p:cNvSpPr txBox="1"/>
          <p:nvPr/>
        </p:nvSpPr>
        <p:spPr>
          <a:xfrm>
            <a:off x="548655" y="178308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Piste de diagnostic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3faa4b4acb7_0_585"/>
          <p:cNvSpPr txBox="1"/>
          <p:nvPr/>
        </p:nvSpPr>
        <p:spPr>
          <a:xfrm>
            <a:off x="548655" y="2148840"/>
            <a:ext cx="5212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bind échoue car le mot de passe fourni ne correspond pas au compte admin, ou le DN est mal formé.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3faa4b4acb7_0_585"/>
          <p:cNvSpPr txBox="1"/>
          <p:nvPr/>
        </p:nvSpPr>
        <p:spPr>
          <a:xfrm>
            <a:off x="548655" y="2880360"/>
            <a:ext cx="521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 vérifier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faa4b4acb7_0_585"/>
          <p:cNvSpPr/>
          <p:nvPr/>
        </p:nvSpPr>
        <p:spPr>
          <a:xfrm>
            <a:off x="548655" y="330098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aa4b4acb7_0_585"/>
          <p:cNvSpPr txBox="1"/>
          <p:nvPr/>
        </p:nvSpPr>
        <p:spPr>
          <a:xfrm>
            <a:off x="771401" y="3244788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DN utilisé est bien cn=admin,dc=starfleet,dc=lan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g3faa4b4acb7_0_585"/>
          <p:cNvSpPr/>
          <p:nvPr/>
        </p:nvSpPr>
        <p:spPr>
          <a:xfrm>
            <a:off x="548655" y="398678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faa4b4acb7_0_585"/>
          <p:cNvSpPr txBox="1"/>
          <p:nvPr/>
        </p:nvSpPr>
        <p:spPr>
          <a:xfrm>
            <a:off x="771401" y="3930588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mot de passe correspond à celui défini via dpkg-reconfigure slapd (Debian13)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aa4b4acb7_0_585"/>
          <p:cNvSpPr/>
          <p:nvPr/>
        </p:nvSpPr>
        <p:spPr>
          <a:xfrm>
            <a:off x="548655" y="4672584"/>
            <a:ext cx="109800" cy="109800"/>
          </a:xfrm>
          <a:prstGeom prst="roundRect">
            <a:avLst>
              <a:gd fmla="val 25000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faa4b4acb7_0_585"/>
          <p:cNvSpPr txBox="1"/>
          <p:nvPr/>
        </p:nvSpPr>
        <p:spPr>
          <a:xfrm>
            <a:off x="771401" y="4616388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service slapd est actif et écoute sur le port 389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faa4b4acb7_0_585"/>
          <p:cNvSpPr txBox="1"/>
          <p:nvPr/>
        </p:nvSpPr>
        <p:spPr>
          <a:xfrm>
            <a:off x="6218086" y="1783080"/>
            <a:ext cx="5422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FD3FE"/>
                </a:solidFill>
                <a:latin typeface="Calibri"/>
                <a:ea typeface="Calibri"/>
                <a:cs typeface="Calibri"/>
                <a:sym typeface="Calibri"/>
              </a:rPr>
              <a:t>Commandes de vérification / correction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faa4b4acb7_0_585"/>
          <p:cNvSpPr/>
          <p:nvPr/>
        </p:nvSpPr>
        <p:spPr>
          <a:xfrm>
            <a:off x="6218086" y="2148840"/>
            <a:ext cx="5422500" cy="3840600"/>
          </a:xfrm>
          <a:prstGeom prst="roundRect">
            <a:avLst>
              <a:gd fmla="val 1429" name="adj"/>
            </a:avLst>
          </a:prstGeom>
          <a:solidFill>
            <a:srgbClr val="081521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faa4b4acb7_0_585"/>
          <p:cNvSpPr/>
          <p:nvPr/>
        </p:nvSpPr>
        <p:spPr>
          <a:xfrm>
            <a:off x="6400971" y="2295144"/>
            <a:ext cx="82200" cy="822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faa4b4acb7_0_585"/>
          <p:cNvSpPr/>
          <p:nvPr/>
        </p:nvSpPr>
        <p:spPr>
          <a:xfrm>
            <a:off x="6602144" y="2295144"/>
            <a:ext cx="82200" cy="822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aa4b4acb7_0_585"/>
          <p:cNvSpPr/>
          <p:nvPr/>
        </p:nvSpPr>
        <p:spPr>
          <a:xfrm>
            <a:off x="6803317" y="2295144"/>
            <a:ext cx="82200" cy="822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faa4b4acb7_0_585"/>
          <p:cNvSpPr txBox="1"/>
          <p:nvPr/>
        </p:nvSpPr>
        <p:spPr>
          <a:xfrm>
            <a:off x="6419259" y="2532888"/>
            <a:ext cx="50202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E7A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systemctl status slapd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ldapwhoami -x \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    -D "cn=admin,dc=starfleet,dc=lan" -W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Sur le Serveur, retrouver le hash admin :</a:t>
            </a:r>
            <a:br>
              <a:rPr b="0" i="0" lang="en-US" sz="12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  <a:t>$ slapcat -n0 | grep olcRootPW</a:t>
            </a: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6EE7A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6B7A99"/>
                </a:solidFill>
                <a:latin typeface="Courier New"/>
                <a:ea typeface="Courier New"/>
                <a:cs typeface="Courier New"/>
                <a:sym typeface="Courier New"/>
              </a:rPr>
              <a:t># Réessayer avec le bon mot de passe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g3faa4b4acb7_0_585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faa4b4acb7_0_585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aa4b4acb7_0_609"/>
          <p:cNvSpPr txBox="1"/>
          <p:nvPr/>
        </p:nvSpPr>
        <p:spPr>
          <a:xfrm>
            <a:off x="548655" y="384048"/>
            <a:ext cx="914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76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4761E"/>
                </a:solidFill>
                <a:latin typeface="Calibri"/>
                <a:ea typeface="Calibri"/>
                <a:cs typeface="Calibri"/>
                <a:sym typeface="Calibri"/>
              </a:rPr>
              <a:t>BONUS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faa4b4acb7_0_609"/>
          <p:cNvSpPr txBox="1"/>
          <p:nvPr/>
        </p:nvSpPr>
        <p:spPr>
          <a:xfrm>
            <a:off x="548655" y="621792"/>
            <a:ext cx="1115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Précisions complémentaires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3" name="Google Shape;683;g3faa4b4acb7_0_609"/>
          <p:cNvCxnSpPr/>
          <p:nvPr/>
        </p:nvCxnSpPr>
        <p:spPr>
          <a:xfrm>
            <a:off x="566943" y="1444752"/>
            <a:ext cx="2377500" cy="0"/>
          </a:xfrm>
          <a:prstGeom prst="straightConnector1">
            <a:avLst/>
          </a:prstGeom>
          <a:noFill/>
          <a:ln cap="flat" cmpd="sng" w="25400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g3faa4b4acb7_0_609"/>
          <p:cNvSpPr/>
          <p:nvPr/>
        </p:nvSpPr>
        <p:spPr>
          <a:xfrm>
            <a:off x="548655" y="1783080"/>
            <a:ext cx="11091900" cy="132600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faa4b4acb7_0_609"/>
          <p:cNvSpPr/>
          <p:nvPr/>
        </p:nvSpPr>
        <p:spPr>
          <a:xfrm>
            <a:off x="822982" y="2002536"/>
            <a:ext cx="128100" cy="128100"/>
          </a:xfrm>
          <a:prstGeom prst="roundRect">
            <a:avLst>
              <a:gd fmla="val 28571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faa4b4acb7_0_609"/>
          <p:cNvSpPr txBox="1"/>
          <p:nvPr/>
        </p:nvSpPr>
        <p:spPr>
          <a:xfrm>
            <a:off x="1051588" y="1896093"/>
            <a:ext cx="1033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Mot de passe administrateur LDAP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faa4b4acb7_0_609"/>
          <p:cNvSpPr txBox="1"/>
          <p:nvPr/>
        </p:nvSpPr>
        <p:spPr>
          <a:xfrm>
            <a:off x="1051588" y="2286000"/>
            <a:ext cx="10332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Debian13 : c'est le mot de passe défini lors du dpkg-reconfigure slapd initial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faa4b4acb7_0_609"/>
          <p:cNvSpPr/>
          <p:nvPr/>
        </p:nvSpPr>
        <p:spPr>
          <a:xfrm>
            <a:off x="548655" y="3291840"/>
            <a:ext cx="11091900" cy="132600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faa4b4acb7_0_609"/>
          <p:cNvSpPr/>
          <p:nvPr/>
        </p:nvSpPr>
        <p:spPr>
          <a:xfrm>
            <a:off x="822982" y="3511296"/>
            <a:ext cx="128100" cy="128100"/>
          </a:xfrm>
          <a:prstGeom prst="roundRect">
            <a:avLst>
              <a:gd fmla="val 28571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faa4b4acb7_0_609"/>
          <p:cNvSpPr txBox="1"/>
          <p:nvPr/>
        </p:nvSpPr>
        <p:spPr>
          <a:xfrm>
            <a:off x="1051588" y="3404853"/>
            <a:ext cx="1033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L'annuaire est déjà sauvegardé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3faa4b4acb7_0_609"/>
          <p:cNvSpPr txBox="1"/>
          <p:nvPr/>
        </p:nvSpPr>
        <p:spPr>
          <a:xfrm>
            <a:off x="1051588" y="3794760"/>
            <a:ext cx="10332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 script /root/backup_starfleet.sh exporte l'intégralité de l'annuaire en LDIF chaque nuit : tout nouvel utilisateur ou groupe est inclus automatiquement dès la prochaine sauvegarde.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faa4b4acb7_0_609"/>
          <p:cNvSpPr/>
          <p:nvPr/>
        </p:nvSpPr>
        <p:spPr>
          <a:xfrm>
            <a:off x="548655" y="4800600"/>
            <a:ext cx="11091900" cy="132600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faa4b4acb7_0_609"/>
          <p:cNvSpPr/>
          <p:nvPr/>
        </p:nvSpPr>
        <p:spPr>
          <a:xfrm>
            <a:off x="822982" y="5020056"/>
            <a:ext cx="128100" cy="128100"/>
          </a:xfrm>
          <a:prstGeom prst="roundRect">
            <a:avLst>
              <a:gd fmla="val 28571" name="adj"/>
            </a:avLst>
          </a:prstGeom>
          <a:solidFill>
            <a:srgbClr val="FFC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faa4b4acb7_0_609"/>
          <p:cNvSpPr txBox="1"/>
          <p:nvPr/>
        </p:nvSpPr>
        <p:spPr>
          <a:xfrm>
            <a:off x="1051588" y="4913613"/>
            <a:ext cx="1033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Aucune règle pare-feu supplémentaire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faa4b4acb7_0_609"/>
          <p:cNvSpPr txBox="1"/>
          <p:nvPr/>
        </p:nvSpPr>
        <p:spPr>
          <a:xfrm>
            <a:off x="1051588" y="5303520"/>
            <a:ext cx="10332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slapd n'écoute que sur le LAN (192.168.100.2:389). Les commandes ldap* de cette annexe s'exécutent localement sur le Serveur, donc nftables n'a pas besoin d'être modifié.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3faa4b4acb7_0_609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g3faa4b4acb7_0_609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aa4b4acb7_0_0"/>
          <p:cNvSpPr/>
          <p:nvPr/>
        </p:nvSpPr>
        <p:spPr>
          <a:xfrm>
            <a:off x="548644" y="658375"/>
            <a:ext cx="4212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Technologies utilisées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faa4b4acb7_0_0"/>
          <p:cNvSpPr/>
          <p:nvPr/>
        </p:nvSpPr>
        <p:spPr>
          <a:xfrm>
            <a:off x="640080" y="18288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faa4b4acb7_0_0"/>
          <p:cNvSpPr/>
          <p:nvPr/>
        </p:nvSpPr>
        <p:spPr>
          <a:xfrm>
            <a:off x="640080" y="18288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faa4b4acb7_0_0"/>
          <p:cNvSpPr/>
          <p:nvPr/>
        </p:nvSpPr>
        <p:spPr>
          <a:xfrm>
            <a:off x="3429000" y="18288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faa4b4acb7_0_0"/>
          <p:cNvSpPr/>
          <p:nvPr/>
        </p:nvSpPr>
        <p:spPr>
          <a:xfrm>
            <a:off x="3429000" y="18288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g3faa4b4acb7_0_0"/>
          <p:cNvSpPr/>
          <p:nvPr/>
        </p:nvSpPr>
        <p:spPr>
          <a:xfrm>
            <a:off x="6217920" y="18288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faa4b4acb7_0_0"/>
          <p:cNvSpPr/>
          <p:nvPr/>
        </p:nvSpPr>
        <p:spPr>
          <a:xfrm>
            <a:off x="6217920" y="18288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faa4b4acb7_0_0"/>
          <p:cNvSpPr/>
          <p:nvPr/>
        </p:nvSpPr>
        <p:spPr>
          <a:xfrm>
            <a:off x="9006840" y="18288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faa4b4acb7_0_0"/>
          <p:cNvSpPr/>
          <p:nvPr/>
        </p:nvSpPr>
        <p:spPr>
          <a:xfrm>
            <a:off x="9006840" y="18288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faa4b4acb7_0_0"/>
          <p:cNvSpPr/>
          <p:nvPr/>
        </p:nvSpPr>
        <p:spPr>
          <a:xfrm>
            <a:off x="640080" y="32004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faa4b4acb7_0_0"/>
          <p:cNvSpPr/>
          <p:nvPr/>
        </p:nvSpPr>
        <p:spPr>
          <a:xfrm>
            <a:off x="640080" y="32004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g3faa4b4acb7_0_0"/>
          <p:cNvSpPr/>
          <p:nvPr/>
        </p:nvSpPr>
        <p:spPr>
          <a:xfrm>
            <a:off x="3429000" y="32004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faa4b4acb7_0_0"/>
          <p:cNvSpPr/>
          <p:nvPr/>
        </p:nvSpPr>
        <p:spPr>
          <a:xfrm>
            <a:off x="3429000" y="32004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g3faa4b4acb7_0_0"/>
          <p:cNvSpPr/>
          <p:nvPr/>
        </p:nvSpPr>
        <p:spPr>
          <a:xfrm>
            <a:off x="6217920" y="32004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faa4b4acb7_0_0"/>
          <p:cNvSpPr/>
          <p:nvPr/>
        </p:nvSpPr>
        <p:spPr>
          <a:xfrm>
            <a:off x="6217920" y="32004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faa4b4acb7_0_0"/>
          <p:cNvSpPr/>
          <p:nvPr/>
        </p:nvSpPr>
        <p:spPr>
          <a:xfrm>
            <a:off x="9006840" y="32004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faa4b4acb7_0_0"/>
          <p:cNvSpPr/>
          <p:nvPr/>
        </p:nvSpPr>
        <p:spPr>
          <a:xfrm>
            <a:off x="9006840" y="32004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faa4b4acb7_0_0"/>
          <p:cNvSpPr/>
          <p:nvPr/>
        </p:nvSpPr>
        <p:spPr>
          <a:xfrm>
            <a:off x="640080" y="45720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faa4b4acb7_0_0"/>
          <p:cNvSpPr/>
          <p:nvPr/>
        </p:nvSpPr>
        <p:spPr>
          <a:xfrm>
            <a:off x="640080" y="45720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faa4b4acb7_0_0"/>
          <p:cNvSpPr/>
          <p:nvPr/>
        </p:nvSpPr>
        <p:spPr>
          <a:xfrm>
            <a:off x="3429000" y="45720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faa4b4acb7_0_0"/>
          <p:cNvSpPr/>
          <p:nvPr/>
        </p:nvSpPr>
        <p:spPr>
          <a:xfrm>
            <a:off x="3429000" y="45720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faa4b4acb7_0_0"/>
          <p:cNvSpPr/>
          <p:nvPr/>
        </p:nvSpPr>
        <p:spPr>
          <a:xfrm>
            <a:off x="6217920" y="45720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faa4b4acb7_0_0"/>
          <p:cNvSpPr/>
          <p:nvPr/>
        </p:nvSpPr>
        <p:spPr>
          <a:xfrm>
            <a:off x="6217920" y="45720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faa4b4acb7_0_0"/>
          <p:cNvSpPr/>
          <p:nvPr/>
        </p:nvSpPr>
        <p:spPr>
          <a:xfrm>
            <a:off x="9006840" y="4572000"/>
            <a:ext cx="2606100" cy="1143000"/>
          </a:xfrm>
          <a:prstGeom prst="roundRect">
            <a:avLst>
              <a:gd fmla="val 64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faa4b4acb7_0_0"/>
          <p:cNvSpPr/>
          <p:nvPr/>
        </p:nvSpPr>
        <p:spPr>
          <a:xfrm>
            <a:off x="9006840" y="4572000"/>
            <a:ext cx="2606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faa4b4acb7_0_0"/>
          <p:cNvSpPr txBox="1"/>
          <p:nvPr/>
        </p:nvSpPr>
        <p:spPr>
          <a:xfrm>
            <a:off x="1227300" y="1842134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Debian 13</a:t>
            </a:r>
            <a:endParaRPr/>
          </a:p>
        </p:txBody>
      </p:sp>
      <p:pic>
        <p:nvPicPr>
          <p:cNvPr id="729" name="Google Shape;729;g3faa4b4acb7_0_0" title="Debian_logo.png"/>
          <p:cNvPicPr preferRelativeResize="0"/>
          <p:nvPr/>
        </p:nvPicPr>
        <p:blipFill rotWithShape="1">
          <a:blip r:embed="rId3">
            <a:alphaModFix/>
          </a:blip>
          <a:srcRect b="31120" l="1070" r="-1070" t="-1766"/>
          <a:stretch/>
        </p:blipFill>
        <p:spPr>
          <a:xfrm>
            <a:off x="1544924" y="2186662"/>
            <a:ext cx="796350" cy="7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3faa4b4acb7_0_0"/>
          <p:cNvSpPr txBox="1"/>
          <p:nvPr/>
        </p:nvSpPr>
        <p:spPr>
          <a:xfrm>
            <a:off x="4016225" y="1842134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Nginx</a:t>
            </a:r>
            <a:endParaRPr/>
          </a:p>
        </p:txBody>
      </p:sp>
      <p:sp>
        <p:nvSpPr>
          <p:cNvPr id="731" name="Google Shape;731;g3faa4b4acb7_0_0"/>
          <p:cNvSpPr txBox="1"/>
          <p:nvPr/>
        </p:nvSpPr>
        <p:spPr>
          <a:xfrm>
            <a:off x="6805150" y="1842134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PHP 7.4 / 8.3</a:t>
            </a:r>
            <a:endParaRPr/>
          </a:p>
        </p:txBody>
      </p:sp>
      <p:sp>
        <p:nvSpPr>
          <p:cNvPr id="732" name="Google Shape;732;g3faa4b4acb7_0_0"/>
          <p:cNvSpPr txBox="1"/>
          <p:nvPr/>
        </p:nvSpPr>
        <p:spPr>
          <a:xfrm>
            <a:off x="9594050" y="1842134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400"/>
              <a:buFont typeface="Cambria"/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MariaDB</a:t>
            </a:r>
            <a:endParaRPr/>
          </a:p>
        </p:txBody>
      </p:sp>
      <p:pic>
        <p:nvPicPr>
          <p:cNvPr id="733" name="Google Shape;733;g3faa4b4acb7_0_0" title="cbf6ada6-be1b-4e67-bc3b-2695694c8af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5" y="2208844"/>
            <a:ext cx="1481477" cy="7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g3faa4b4acb7_0_0" title="PHP-logo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3925" y="2208850"/>
            <a:ext cx="1164150" cy="62845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g3faa4b4acb7_0_0"/>
          <p:cNvSpPr txBox="1"/>
          <p:nvPr/>
        </p:nvSpPr>
        <p:spPr>
          <a:xfrm>
            <a:off x="1227300" y="321944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OpenLDAP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6" name="Google Shape;736;g3faa4b4acb7_0_0"/>
          <p:cNvSpPr txBox="1"/>
          <p:nvPr/>
        </p:nvSpPr>
        <p:spPr>
          <a:xfrm>
            <a:off x="4016225" y="321944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pure-ftpd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7" name="Google Shape;737;g3faa4b4acb7_0_0"/>
          <p:cNvSpPr txBox="1"/>
          <p:nvPr/>
        </p:nvSpPr>
        <p:spPr>
          <a:xfrm>
            <a:off x="6805150" y="321944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bind9 / DHCP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8" name="Google Shape;738;g3faa4b4acb7_0_0"/>
          <p:cNvSpPr txBox="1"/>
          <p:nvPr/>
        </p:nvSpPr>
        <p:spPr>
          <a:xfrm>
            <a:off x="9594050" y="321944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nftables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39" name="Google Shape;739;g3faa4b4acb7_0_0"/>
          <p:cNvSpPr txBox="1"/>
          <p:nvPr/>
        </p:nvSpPr>
        <p:spPr>
          <a:xfrm>
            <a:off x="1227300" y="457199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Cockpit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0" name="Google Shape;740;g3faa4b4acb7_0_0"/>
          <p:cNvSpPr txBox="1"/>
          <p:nvPr/>
        </p:nvSpPr>
        <p:spPr>
          <a:xfrm>
            <a:off x="4016225" y="457199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code-server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1" name="Google Shape;741;g3faa4b4acb7_0_0"/>
          <p:cNvSpPr txBox="1"/>
          <p:nvPr/>
        </p:nvSpPr>
        <p:spPr>
          <a:xfrm>
            <a:off x="6805150" y="457199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OpenSSH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2" name="Google Shape;742;g3faa4b4acb7_0_0"/>
          <p:cNvSpPr txBox="1"/>
          <p:nvPr/>
        </p:nvSpPr>
        <p:spPr>
          <a:xfrm>
            <a:off x="9569113" y="4571990"/>
            <a:ext cx="143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C857"/>
                </a:solidFill>
                <a:latin typeface="Cambria"/>
                <a:ea typeface="Cambria"/>
                <a:cs typeface="Cambria"/>
                <a:sym typeface="Cambria"/>
              </a:rPr>
              <a:t>OpenSSL</a:t>
            </a:r>
            <a:endParaRPr b="1">
              <a:solidFill>
                <a:srgbClr val="FFC85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3" name="Google Shape;743;g3faa4b4acb7_0_0"/>
          <p:cNvSpPr/>
          <p:nvPr/>
        </p:nvSpPr>
        <p:spPr>
          <a:xfrm>
            <a:off x="1506950" y="3610967"/>
            <a:ext cx="867300" cy="62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g3faa4b4acb7_0_0" title="OpenLDA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4925" y="3518617"/>
            <a:ext cx="796350" cy="79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3faa4b4acb7_0_0"/>
          <p:cNvSpPr/>
          <p:nvPr/>
        </p:nvSpPr>
        <p:spPr>
          <a:xfrm>
            <a:off x="3796592" y="3639499"/>
            <a:ext cx="1828200" cy="568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g3faa4b4acb7_0_0" title="Pure-ftpd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1942" y="3676607"/>
            <a:ext cx="1759125" cy="50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g3faa4b4acb7_0_0" title="isc-bind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22774" y="3529265"/>
            <a:ext cx="796351" cy="797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g3faa4b4acb7_0_0" title="536bef73-d277-45c4-bb3b-d396f6eb4d3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39475" y="3532209"/>
            <a:ext cx="740774" cy="7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g3faa4b4acb7_0_0" title="07d359ce-483c-4bf8-b69f-29db0ff2a6e9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54586" y="4799582"/>
            <a:ext cx="977025" cy="9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g3faa4b4acb7_0_0" title="1a079ba2-104d-4a6b-94d5-e1bc70ab9b98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70276" y="4913300"/>
            <a:ext cx="680851" cy="68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g3faa4b4acb7_0_0" title="openssh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38088" y="4917700"/>
            <a:ext cx="740775" cy="74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g3faa4b4acb7_0_0"/>
          <p:cNvSpPr/>
          <p:nvPr/>
        </p:nvSpPr>
        <p:spPr>
          <a:xfrm>
            <a:off x="9297525" y="4947325"/>
            <a:ext cx="2033100" cy="50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3" name="Google Shape;753;g3faa4b4acb7_0_0" title="OpenSSL_logo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322506" y="4972192"/>
            <a:ext cx="1974711" cy="44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g3faa4b4acb7_0_0" title="b4cf37bc-8638-4dde-ad91-b4cda66097ea.png"/>
          <p:cNvPicPr preferRelativeResize="0"/>
          <p:nvPr/>
        </p:nvPicPr>
        <p:blipFill rotWithShape="1">
          <a:blip r:embed="rId14">
            <a:alphaModFix/>
          </a:blip>
          <a:srcRect b="34628" l="0" r="0" t="34361"/>
          <a:stretch/>
        </p:blipFill>
        <p:spPr>
          <a:xfrm>
            <a:off x="3921675" y="2243342"/>
            <a:ext cx="1620700" cy="5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g3faa4b4acb7_0_0"/>
          <p:cNvSpPr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Projet Holodeck — Notice d'installation et d'utilisation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g3faa4b4acb7_0_0"/>
          <p:cNvSpPr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0CC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2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32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2"/>
          <p:cNvSpPr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Prêt à explorer l'Holodeck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2"/>
          <p:cNvSpPr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C857"/>
                </a:solidFill>
                <a:latin typeface="Calibri"/>
                <a:ea typeface="Calibri"/>
                <a:cs typeface="Calibri"/>
                <a:sym typeface="Calibri"/>
              </a:rPr>
              <a:t>Pour toute question, consultez le dépôt GitHub du projet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2"/>
          <p:cNvSpPr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F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8FD3FE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</a:t>
            </a:r>
            <a:r>
              <a:rPr lang="en-US" sz="1300">
                <a:solidFill>
                  <a:srgbClr val="8FD3FE"/>
                </a:solidFill>
                <a:latin typeface="Courier New"/>
                <a:ea typeface="Courier New"/>
                <a:cs typeface="Courier New"/>
                <a:sym typeface="Courier New"/>
              </a:rPr>
              <a:t>N3YGUIB</a:t>
            </a:r>
            <a:r>
              <a:rPr b="0" i="0" lang="en-US" sz="1300" u="none" cap="none" strike="noStrike">
                <a:solidFill>
                  <a:srgbClr val="8FD3FE"/>
                </a:solidFill>
                <a:latin typeface="Courier New"/>
                <a:ea typeface="Courier New"/>
                <a:cs typeface="Courier New"/>
                <a:sym typeface="Courier New"/>
              </a:rPr>
              <a:t>/holodeck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2026-09-11T07:53:26Z</dcterms:created>
  <dc:creator>PptxGenJS</dc:creator>
</cp:coreProperties>
</file>